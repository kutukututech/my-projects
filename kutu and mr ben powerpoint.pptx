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Montserrat Bold" panose="00000800000000000000"/>
      <p:bold r:id="rId20"/>
    </p:embeddedFont>
    <p:embeddedFont>
      <p:font typeface="Poppins" panose="00000500000000000000"/>
      <p:regular r:id="rId21"/>
    </p:embeddedFont>
    <p:embeddedFont>
      <p:font typeface="Poppins Bold" panose="00000800000000000000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89577" y="2036093"/>
            <a:ext cx="16014659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PHISHING CAMPAIGN</a:t>
            </a:r>
            <a:endParaRPr lang="en-US" sz="63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7565"/>
              </a:lnSpc>
            </a:pPr>
            <a:r>
              <a:rPr lang="en-US" sz="63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SIMULATION</a:t>
            </a:r>
            <a:endParaRPr lang="en-US" sz="63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3965"/>
              </a:lnSpc>
            </a:pPr>
            <a:r>
              <a:rPr lang="en-US" sz="330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Security Awareness Project</a:t>
            </a:r>
            <a:endParaRPr lang="en-US" sz="330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836783" y="6116012"/>
            <a:ext cx="12582973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6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Project Team: Kutu &amp; Mr Ben</a:t>
            </a:r>
            <a:endParaRPr lang="en-US" sz="36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2880"/>
              </a:lnSpc>
            </a:pPr>
            <a:r>
              <a:rPr lang="en-US" sz="240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Neocloud Technologies  •  Instructor: Mr Victor</a:t>
            </a:r>
            <a:endParaRPr lang="en-US" sz="240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1. What Is This Project?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8214" y="2017043"/>
            <a:ext cx="15602855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 are teaching people how to recognize phishing emails.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Phishing is when someone uses a fake message to trick a person.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 created a SAFE practice version inside a controlled lab.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goal is to learn how to spot the warning signs.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93748" y="9850803"/>
            <a:ext cx="4047753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2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2. What Did We Want to Achieve?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8214" y="2017043"/>
            <a:ext cx="15602855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Create a fake phishing message for training.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Send it only to approved test accounts.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See what happens when a user opens or clicks the message.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Use the results to teach better security habits.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91515" y="9850803"/>
            <a:ext cx="404998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3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3. Tools We Used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8214" y="2017043"/>
            <a:ext cx="15602855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Kali Linux — our security testing computer.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GoPhish — used to create and manage the simulation.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Mailtrap — used for safe email testing.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HTML / Canva — used to create the training content.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85265" y="9850803"/>
            <a:ext cx="4056236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4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4. How The Project Works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873176" y="3069450"/>
            <a:ext cx="2714844" cy="2783472"/>
            <a:chOff x="0" y="0"/>
            <a:chExt cx="3619792" cy="37112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19754" cy="3711194"/>
            </a:xfrm>
            <a:custGeom>
              <a:avLst/>
              <a:gdLst/>
              <a:ahLst/>
              <a:cxnLst/>
              <a:rect l="l" t="t" r="r" b="b"/>
              <a:pathLst>
                <a:path w="3619754" h="3711194">
                  <a:moveTo>
                    <a:pt x="0" y="603250"/>
                  </a:moveTo>
                  <a:cubicBezTo>
                    <a:pt x="0" y="270129"/>
                    <a:pt x="270129" y="0"/>
                    <a:pt x="603250" y="0"/>
                  </a:cubicBezTo>
                  <a:lnTo>
                    <a:pt x="3016504" y="0"/>
                  </a:lnTo>
                  <a:cubicBezTo>
                    <a:pt x="3349752" y="0"/>
                    <a:pt x="3619754" y="270129"/>
                    <a:pt x="3619754" y="603250"/>
                  </a:cubicBezTo>
                  <a:lnTo>
                    <a:pt x="3619754" y="3107944"/>
                  </a:lnTo>
                  <a:cubicBezTo>
                    <a:pt x="3619754" y="3441192"/>
                    <a:pt x="3349625" y="3711194"/>
                    <a:pt x="3016504" y="3711194"/>
                  </a:cubicBezTo>
                  <a:lnTo>
                    <a:pt x="603250" y="3711194"/>
                  </a:lnTo>
                  <a:cubicBezTo>
                    <a:pt x="270002" y="3711194"/>
                    <a:pt x="0" y="3441065"/>
                    <a:pt x="0" y="3107944"/>
                  </a:cubicBez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81547" r="-81548" b="-2"/>
              </a:stretch>
            </a:blipFill>
            <a:ln w="3813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148401" y="3449945"/>
            <a:ext cx="2150659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1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Create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Email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4304852" y="3069450"/>
            <a:ext cx="2714844" cy="2783472"/>
            <a:chOff x="0" y="0"/>
            <a:chExt cx="3619792" cy="37112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19754" cy="3711194"/>
            </a:xfrm>
            <a:custGeom>
              <a:avLst/>
              <a:gdLst/>
              <a:ahLst/>
              <a:cxnLst/>
              <a:rect l="l" t="t" r="r" b="b"/>
              <a:pathLst>
                <a:path w="3619754" h="3711194">
                  <a:moveTo>
                    <a:pt x="0" y="603250"/>
                  </a:moveTo>
                  <a:cubicBezTo>
                    <a:pt x="0" y="270129"/>
                    <a:pt x="270129" y="0"/>
                    <a:pt x="603250" y="0"/>
                  </a:cubicBezTo>
                  <a:lnTo>
                    <a:pt x="3016504" y="0"/>
                  </a:lnTo>
                  <a:cubicBezTo>
                    <a:pt x="3349752" y="0"/>
                    <a:pt x="3619754" y="270129"/>
                    <a:pt x="3619754" y="603250"/>
                  </a:cubicBezTo>
                  <a:lnTo>
                    <a:pt x="3619754" y="3107944"/>
                  </a:lnTo>
                  <a:cubicBezTo>
                    <a:pt x="3619754" y="3441192"/>
                    <a:pt x="3349625" y="3711194"/>
                    <a:pt x="3016504" y="3711194"/>
                  </a:cubicBezTo>
                  <a:lnTo>
                    <a:pt x="603250" y="3711194"/>
                  </a:lnTo>
                  <a:cubicBezTo>
                    <a:pt x="270002" y="3711194"/>
                    <a:pt x="0" y="3441065"/>
                    <a:pt x="0" y="3107944"/>
                  </a:cubicBez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81547" r="-81548" b="-2"/>
              </a:stretch>
            </a:blipFill>
            <a:ln w="3813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4580077" y="3449945"/>
            <a:ext cx="2150659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2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Send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Safely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7736538" y="3069450"/>
            <a:ext cx="2714844" cy="2783472"/>
            <a:chOff x="0" y="0"/>
            <a:chExt cx="3619792" cy="37112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754" cy="3711194"/>
            </a:xfrm>
            <a:custGeom>
              <a:avLst/>
              <a:gdLst/>
              <a:ahLst/>
              <a:cxnLst/>
              <a:rect l="l" t="t" r="r" b="b"/>
              <a:pathLst>
                <a:path w="3619754" h="3711194">
                  <a:moveTo>
                    <a:pt x="0" y="603250"/>
                  </a:moveTo>
                  <a:cubicBezTo>
                    <a:pt x="0" y="270129"/>
                    <a:pt x="270129" y="0"/>
                    <a:pt x="603250" y="0"/>
                  </a:cubicBezTo>
                  <a:lnTo>
                    <a:pt x="3016504" y="0"/>
                  </a:lnTo>
                  <a:cubicBezTo>
                    <a:pt x="3349752" y="0"/>
                    <a:pt x="3619754" y="270129"/>
                    <a:pt x="3619754" y="603250"/>
                  </a:cubicBezTo>
                  <a:lnTo>
                    <a:pt x="3619754" y="3107944"/>
                  </a:lnTo>
                  <a:cubicBezTo>
                    <a:pt x="3619754" y="3441192"/>
                    <a:pt x="3349625" y="3711194"/>
                    <a:pt x="3016504" y="3711194"/>
                  </a:cubicBezTo>
                  <a:lnTo>
                    <a:pt x="603250" y="3711194"/>
                  </a:lnTo>
                  <a:cubicBezTo>
                    <a:pt x="270002" y="3711194"/>
                    <a:pt x="0" y="3441065"/>
                    <a:pt x="0" y="3107944"/>
                  </a:cubicBez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81547" r="-81548" b="-2"/>
              </a:stretch>
            </a:blipFill>
            <a:ln w="3813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8011763" y="3449945"/>
            <a:ext cx="2150659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3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User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Clicks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11168215" y="3069450"/>
            <a:ext cx="2714844" cy="2783472"/>
            <a:chOff x="0" y="0"/>
            <a:chExt cx="3619792" cy="37112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19754" cy="3711194"/>
            </a:xfrm>
            <a:custGeom>
              <a:avLst/>
              <a:gdLst/>
              <a:ahLst/>
              <a:cxnLst/>
              <a:rect l="l" t="t" r="r" b="b"/>
              <a:pathLst>
                <a:path w="3619754" h="3711194">
                  <a:moveTo>
                    <a:pt x="0" y="603250"/>
                  </a:moveTo>
                  <a:cubicBezTo>
                    <a:pt x="0" y="270129"/>
                    <a:pt x="270129" y="0"/>
                    <a:pt x="603250" y="0"/>
                  </a:cubicBezTo>
                  <a:lnTo>
                    <a:pt x="3016504" y="0"/>
                  </a:lnTo>
                  <a:cubicBezTo>
                    <a:pt x="3349752" y="0"/>
                    <a:pt x="3619754" y="270129"/>
                    <a:pt x="3619754" y="603250"/>
                  </a:cubicBezTo>
                  <a:lnTo>
                    <a:pt x="3619754" y="3107944"/>
                  </a:lnTo>
                  <a:cubicBezTo>
                    <a:pt x="3619754" y="3441192"/>
                    <a:pt x="3349625" y="3711194"/>
                    <a:pt x="3016504" y="3711194"/>
                  </a:cubicBezTo>
                  <a:lnTo>
                    <a:pt x="603250" y="3711194"/>
                  </a:lnTo>
                  <a:cubicBezTo>
                    <a:pt x="270002" y="3711194"/>
                    <a:pt x="0" y="3441065"/>
                    <a:pt x="0" y="3107944"/>
                  </a:cubicBez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81547" r="-81548" b="-2"/>
              </a:stretch>
            </a:blipFill>
            <a:ln w="3813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1443440" y="3449945"/>
            <a:ext cx="2150659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4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Show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Warning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14599891" y="3069450"/>
            <a:ext cx="2714844" cy="2783472"/>
            <a:chOff x="0" y="0"/>
            <a:chExt cx="3619792" cy="37112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19754" cy="3711194"/>
            </a:xfrm>
            <a:custGeom>
              <a:avLst/>
              <a:gdLst/>
              <a:ahLst/>
              <a:cxnLst/>
              <a:rect l="l" t="t" r="r" b="b"/>
              <a:pathLst>
                <a:path w="3619754" h="3711194">
                  <a:moveTo>
                    <a:pt x="0" y="603250"/>
                  </a:moveTo>
                  <a:cubicBezTo>
                    <a:pt x="0" y="270129"/>
                    <a:pt x="270129" y="0"/>
                    <a:pt x="603250" y="0"/>
                  </a:cubicBezTo>
                  <a:lnTo>
                    <a:pt x="3016504" y="0"/>
                  </a:lnTo>
                  <a:cubicBezTo>
                    <a:pt x="3349752" y="0"/>
                    <a:pt x="3619754" y="270129"/>
                    <a:pt x="3619754" y="603250"/>
                  </a:cubicBezTo>
                  <a:lnTo>
                    <a:pt x="3619754" y="3107944"/>
                  </a:lnTo>
                  <a:cubicBezTo>
                    <a:pt x="3619754" y="3441192"/>
                    <a:pt x="3349625" y="3711194"/>
                    <a:pt x="3016504" y="3711194"/>
                  </a:cubicBezTo>
                  <a:lnTo>
                    <a:pt x="603250" y="3711194"/>
                  </a:lnTo>
                  <a:cubicBezTo>
                    <a:pt x="270002" y="3711194"/>
                    <a:pt x="0" y="3441065"/>
                    <a:pt x="0" y="3107944"/>
                  </a:cubicBez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81547" r="-81548" b="-2"/>
              </a:stretch>
            </a:blipFill>
            <a:ln w="3813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4875126" y="3449945"/>
            <a:ext cx="2150659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5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Teach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User</a:t>
            </a:r>
            <a:endParaRPr lang="en-US" sz="25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285413" y="9850803"/>
            <a:ext cx="4056087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5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5. What We Have Completed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8214" y="2017043"/>
            <a:ext cx="15602855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Kali Linux lab is ready.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GoPhish was installed and the dashboard works.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Mailtrap testing setup was added.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project team can create the campaign from the GoPhish dashboard.</a:t>
            </a:r>
            <a:endParaRPr lang="en-US" sz="315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84372" y="9850803"/>
            <a:ext cx="4057129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6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60" y="526151"/>
            <a:ext cx="16289188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6. The Email Test 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8214" y="2007518"/>
            <a:ext cx="15602855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altLang="en-GB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SMTP Test — Successfully Completed</a:t>
            </a:r>
            <a:endParaRPr lang="en-US" altLang="en-GB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altLang="en-GB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GoPhish SMTP connection was successfully configured with Mailtrap.</a:t>
            </a:r>
            <a:endParaRPr lang="en-US" altLang="en-GB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altLang="en-GB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 test email was sent successfully and received in the Mailtrap inbox.</a:t>
            </a:r>
            <a:endParaRPr lang="en-US" altLang="en-GB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altLang="en-GB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This confirmed that the SMTP configuration was working correctly.</a:t>
            </a:r>
            <a:endParaRPr lang="en-US" altLang="en-GB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98287" y="9850803"/>
            <a:ext cx="4043214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7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5" name="Picture 4" descr="Screenshot 2026-10-06 0740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05300"/>
            <a:ext cx="11758295" cy="58235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7. What Happens When It Works?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8214" y="2007518"/>
            <a:ext cx="15602855" cy="231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 test email is sent to an approved test account.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user opens the message.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user may click the training link.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training page explains the warning signs.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GoPhish records the activity for the project report.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84967" y="9850803"/>
            <a:ext cx="4056534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8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5" name="Picture 4" descr="Screenshot 2026-10-06 0718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686300"/>
            <a:ext cx="6205855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8. What Will We Measure?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8214" y="2007518"/>
            <a:ext cx="15602855" cy="231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Delivered — did the email arrive?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Opened — did the user open it?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Clicked — did the user click the link?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Reported — did the user recognize and report it?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These results show where more training is needed.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85116" y="9850803"/>
            <a:ext cx="405638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9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6" name="Picture 5" descr="Screenshot 2026-10-06 074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381500"/>
            <a:ext cx="10228580" cy="5753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9. What Should People Learn?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8214" y="2007518"/>
            <a:ext cx="15602855" cy="231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Check the sender before trusting an email.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Do not rush because a message says “URGENT.”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Check links before clicking.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Never give your password to an unexpected email.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When unsure, report the message.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35333" y="9850803"/>
            <a:ext cx="410616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10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5" name="Picture 4" descr="Screenshot 2026-10-06 0743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686300"/>
            <a:ext cx="11092180" cy="5111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10. Safety &amp; Ethics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8214" y="2007518"/>
            <a:ext cx="15602855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This is an educational project.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Only authorized test accounts should be used.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No real passwords or sensitive information should be collected.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purpose is awareness — not harming or accessing real accounts.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83553" y="9850803"/>
            <a:ext cx="405794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11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75" y="526151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5"/>
              </a:lnSpc>
            </a:pPr>
            <a:r>
              <a:rPr lang="en-US" sz="42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11. Final Result</a:t>
            </a:r>
            <a:endParaRPr lang="en-US" sz="4205" b="1">
              <a:solidFill>
                <a:srgbClr val="1A326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7079" y="2095783"/>
            <a:ext cx="15602855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altLang="en-GB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controlled phishing-awareness campaign was successfully launched.</a:t>
            </a:r>
            <a:endParaRPr lang="en-US" altLang="en-GB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altLang="en-GB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simulated email was delivered and appeared in Mailtrap.</a:t>
            </a:r>
            <a:endParaRPr lang="en-US" altLang="en-GB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altLang="en-GB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test activity was recorded by GoPhish.</a:t>
            </a:r>
            <a:endParaRPr lang="en-US" altLang="en-GB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3600"/>
              </a:lnSpc>
            </a:pPr>
            <a:r>
              <a:rPr lang="en-US" altLang="en-GB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successful delivery confirmed that the complete workflow was operational.</a:t>
            </a:r>
            <a:r>
              <a:rPr lang="en-US" sz="3000" b="1">
                <a:solidFill>
                  <a:srgbClr val="1A3263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.</a:t>
            </a:r>
            <a:endParaRPr lang="en-US" sz="3000" b="1">
              <a:solidFill>
                <a:srgbClr val="1A3263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43667" y="9850803"/>
            <a:ext cx="4097834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80"/>
              </a:lnSpc>
            </a:pPr>
            <a:r>
              <a:rPr lang="en-US" sz="123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Kutu &amp; Mr Ben  •  Phishing Campaign Simulation  •  12</a:t>
            </a:r>
            <a:endParaRPr lang="en-US" sz="123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5" name="Picture 4" descr="Screenshot 2026-10-06 074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076700"/>
            <a:ext cx="12192000" cy="60940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86333" y="412280"/>
            <a:ext cx="12354049" cy="1715841"/>
            <a:chOff x="0" y="0"/>
            <a:chExt cx="16472065" cy="2287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2287784"/>
            </a:xfrm>
            <a:custGeom>
              <a:avLst/>
              <a:gdLst/>
              <a:ahLst/>
              <a:cxnLst/>
              <a:rect l="l" t="t" r="r" b="b"/>
              <a:pathLst>
                <a:path w="16472069" h="2287784">
                  <a:moveTo>
                    <a:pt x="0" y="0"/>
                  </a:moveTo>
                  <a:lnTo>
                    <a:pt x="16472069" y="0"/>
                  </a:lnTo>
                  <a:lnTo>
                    <a:pt x="16472069" y="2287784"/>
                  </a:lnTo>
                  <a:lnTo>
                    <a:pt x="0" y="22877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472065" cy="22973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5"/>
                </a:lnSpc>
              </a:pPr>
              <a:r>
                <a:rPr lang="en-US" sz="6605" b="1">
                  <a:solidFill>
                    <a:srgbClr val="1A3263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12. Conclusion</a:t>
              </a:r>
              <a:endParaRPr lang="en-US" sz="66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7773" y="2419321"/>
            <a:ext cx="12171169" cy="332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585" lvl="1" indent="-244475" algn="l">
              <a:lnSpc>
                <a:spcPts val="3240"/>
              </a:lnSpc>
              <a:buFont typeface="Arial" panose="020B0604020202020204"/>
              <a:buChar char="•"/>
            </a:pPr>
            <a:r>
              <a:rPr lang="en-US" altLang="en-GB" sz="270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phishing campaign simulation was successfully completed in a controlled laboratory environment.</a:t>
            </a:r>
            <a:endParaRPr lang="en-US" altLang="en-GB" sz="270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89585" lvl="1" indent="-244475" algn="l">
              <a:lnSpc>
                <a:spcPts val="3240"/>
              </a:lnSpc>
              <a:buFont typeface="Arial" panose="020B0604020202020204"/>
              <a:buChar char="•"/>
            </a:pPr>
            <a:r>
              <a:rPr lang="en-US" altLang="en-GB" sz="270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GoPhish and Mailtrap were configured successfully, the awareness email was delivered, and the training workflow was demonstrated.</a:t>
            </a:r>
            <a:endParaRPr lang="en-US" altLang="en-GB" sz="270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89585" lvl="1" indent="-244475" algn="l">
              <a:lnSpc>
                <a:spcPts val="3240"/>
              </a:lnSpc>
              <a:buFont typeface="Arial" panose="020B0604020202020204"/>
              <a:buChar char="•"/>
            </a:pPr>
            <a:r>
              <a:rPr lang="en-US" altLang="en-GB" sz="270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practical exercise showed how phishing simulations can be used to improve user awareness and identify risky email behavior.</a:t>
            </a:r>
            <a:endParaRPr lang="en-US" altLang="en-GB" sz="270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89585" lvl="1" indent="-244475" algn="l">
              <a:lnSpc>
                <a:spcPts val="3240"/>
              </a:lnSpc>
              <a:buFont typeface="Arial" panose="020B0604020202020204"/>
              <a:buChar char="•"/>
            </a:pPr>
            <a:r>
              <a:rPr lang="en-US" altLang="en-GB" sz="270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All testing was performed using an authorized test recipient without collecting real credentials or sensitive information.</a:t>
            </a:r>
            <a:endParaRPr lang="en-US" altLang="en-GB" sz="270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86333" y="412280"/>
            <a:ext cx="12354049" cy="1715841"/>
            <a:chOff x="0" y="0"/>
            <a:chExt cx="16472065" cy="2287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2287784"/>
            </a:xfrm>
            <a:custGeom>
              <a:avLst/>
              <a:gdLst/>
              <a:ahLst/>
              <a:cxnLst/>
              <a:rect l="l" t="t" r="r" b="b"/>
              <a:pathLst>
                <a:path w="16472069" h="2287784">
                  <a:moveTo>
                    <a:pt x="0" y="0"/>
                  </a:moveTo>
                  <a:lnTo>
                    <a:pt x="16472069" y="0"/>
                  </a:lnTo>
                  <a:lnTo>
                    <a:pt x="16472069" y="2287784"/>
                  </a:lnTo>
                  <a:lnTo>
                    <a:pt x="0" y="22877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472065" cy="22973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5"/>
                </a:lnSpc>
              </a:pPr>
              <a:r>
                <a:rPr lang="en-US" sz="6605" b="1">
                  <a:solidFill>
                    <a:srgbClr val="1A3263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13. References</a:t>
              </a:r>
              <a:endParaRPr lang="en-US" sz="6605" b="1">
                <a:solidFill>
                  <a:srgbClr val="1A326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7773" y="2419321"/>
            <a:ext cx="12171169" cy="269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2280" lvl="1" indent="-23114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55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NIST — Cybersecurity and phishing-awareness guidance: https://www.nist.gov/</a:t>
            </a:r>
            <a:endParaRPr lang="en-US" sz="255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62280" lvl="1" indent="-23114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55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GoPhish — Phishing simulation and security awareness platform: https://getgophish.com/</a:t>
            </a:r>
            <a:endParaRPr lang="en-US" sz="255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62280" lvl="1" indent="-23114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55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Kali Linux — Security testing platform: https://www.kali.org/</a:t>
            </a:r>
            <a:endParaRPr lang="en-US" sz="255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62280" lvl="1" indent="-23114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55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Mailtrap — Email testing platform: https://mailtrap.io/</a:t>
            </a:r>
            <a:endParaRPr lang="en-US" sz="255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62280" lvl="1" indent="-23114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550">
                <a:solidFill>
                  <a:srgbClr val="1A3263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Project materials and observations from the controlled lab environment.</a:t>
            </a:r>
            <a:endParaRPr lang="en-US" sz="2550">
              <a:solidFill>
                <a:srgbClr val="1A3263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3936</Words>
  <Application>WPS Presentation</Application>
  <PresentationFormat>On-screen Show (4:3)</PresentationFormat>
  <Paragraphs>139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Montserrat Bold</vt:lpstr>
      <vt:lpstr>Poppins</vt:lpstr>
      <vt:lpstr>Poppins Bold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Meshack Adefala</cp:lastModifiedBy>
  <cp:revision>9</cp:revision>
  <dcterms:created xsi:type="dcterms:W3CDTF">2006-08-16T00:00:00Z</dcterms:created>
  <dcterms:modified xsi:type="dcterms:W3CDTF">2026-10-06T07:25:55Z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8942FB384C5149BD8B986EED8993E266_13</vt:lpwstr>
  </property>
  <property fmtid="{D5CDD505-2E9C-101B-9397-08002B2CF9AE}" pid="3" name="KSOProductBuildVer">
    <vt:lpwstr>2057-12.2.0.23206</vt:lpwstr>
  </property>
</Properties>
</file>