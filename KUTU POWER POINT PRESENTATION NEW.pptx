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media/image11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68" r:id="rId24"/>
  </p:sldIdLst>
  <p:sldSz cx="18288000" cy="10287000"/>
  <p:notesSz cx="6858000" cy="9144000"/>
  <p:embeddedFontLst>
    <p:embeddedFont>
      <p:font typeface="Canva Sans Bold Italics" panose="020B0803030501040103"/>
      <p:boldItalic r:id="rId28"/>
    </p:embeddedFont>
    <p:embeddedFont>
      <p:font typeface="Canva Sans Bold" panose="020B0803030501040103"/>
      <p:bold r:id="rId29"/>
    </p:embeddedFont>
    <p:embeddedFont>
      <p:font typeface="Canva Sans" panose="020B0503030501040103"/>
      <p:regular r:id="rId30"/>
    </p:embeddedFont>
    <p:embeddedFont>
      <p:font typeface="Calibri" panose="020F0502020204030204" charset="0"/>
      <p:regular r:id="rId31"/>
      <p:bold r:id="rId32"/>
      <p:italic r:id="rId33"/>
      <p:boldItalic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font" Target="fonts/font7.fntdata"/><Relationship Id="rId33" Type="http://schemas.openxmlformats.org/officeDocument/2006/relationships/font" Target="fonts/font6.fntdata"/><Relationship Id="rId32" Type="http://schemas.openxmlformats.org/officeDocument/2006/relationships/font" Target="fonts/font5.fntdata"/><Relationship Id="rId31" Type="http://schemas.openxmlformats.org/officeDocument/2006/relationships/font" Target="fonts/font4.fntdata"/><Relationship Id="rId30" Type="http://schemas.openxmlformats.org/officeDocument/2006/relationships/font" Target="fonts/font3.fntdata"/><Relationship Id="rId3" Type="http://schemas.openxmlformats.org/officeDocument/2006/relationships/slide" Target="slides/slide1.xml"/><Relationship Id="rId29" Type="http://schemas.openxmlformats.org/officeDocument/2006/relationships/font" Target="fonts/font2.fntdata"/><Relationship Id="rId28" Type="http://schemas.openxmlformats.org/officeDocument/2006/relationships/font" Target="fonts/font1.fntdata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svg"/><Relationship Id="rId8" Type="http://schemas.openxmlformats.org/officeDocument/2006/relationships/image" Target="../media/image8.png"/><Relationship Id="rId7" Type="http://schemas.openxmlformats.org/officeDocument/2006/relationships/image" Target="../media/image7.jpe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11.sv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svg"/><Relationship Id="rId8" Type="http://schemas.openxmlformats.org/officeDocument/2006/relationships/image" Target="../media/image1.png"/><Relationship Id="rId7" Type="http://schemas.openxmlformats.org/officeDocument/2006/relationships/image" Target="../media/image9.svg"/><Relationship Id="rId6" Type="http://schemas.openxmlformats.org/officeDocument/2006/relationships/image" Target="../media/image8.png"/><Relationship Id="rId5" Type="http://schemas.openxmlformats.org/officeDocument/2006/relationships/image" Target="../media/image12.jpe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svg"/><Relationship Id="rId8" Type="http://schemas.openxmlformats.org/officeDocument/2006/relationships/image" Target="../media/image8.png"/><Relationship Id="rId7" Type="http://schemas.openxmlformats.org/officeDocument/2006/relationships/image" Target="../media/image2.svg"/><Relationship Id="rId6" Type="http://schemas.openxmlformats.org/officeDocument/2006/relationships/image" Target="../media/image1.png"/><Relationship Id="rId5" Type="http://schemas.openxmlformats.org/officeDocument/2006/relationships/image" Target="../media/image13.jpe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.svg"/><Relationship Id="rId6" Type="http://schemas.openxmlformats.org/officeDocument/2006/relationships/image" Target="../media/image1.png"/><Relationship Id="rId5" Type="http://schemas.openxmlformats.org/officeDocument/2006/relationships/image" Target="../media/image14.jpe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5.jpe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.svg"/><Relationship Id="rId6" Type="http://schemas.openxmlformats.org/officeDocument/2006/relationships/image" Target="../media/image1.png"/><Relationship Id="rId5" Type="http://schemas.openxmlformats.org/officeDocument/2006/relationships/image" Target="../media/image16.jpe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.svg"/><Relationship Id="rId6" Type="http://schemas.openxmlformats.org/officeDocument/2006/relationships/image" Target="../media/image1.png"/><Relationship Id="rId5" Type="http://schemas.openxmlformats.org/officeDocument/2006/relationships/image" Target="../media/image17.jpe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.svg"/><Relationship Id="rId6" Type="http://schemas.openxmlformats.org/officeDocument/2006/relationships/image" Target="../media/image1.png"/><Relationship Id="rId5" Type="http://schemas.openxmlformats.org/officeDocument/2006/relationships/image" Target="../media/image18.jpe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.svg"/><Relationship Id="rId7" Type="http://schemas.openxmlformats.org/officeDocument/2006/relationships/image" Target="../media/image1.png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.svg"/><Relationship Id="rId3" Type="http://schemas.openxmlformats.org/officeDocument/2006/relationships/image" Target="../media/image22.png"/><Relationship Id="rId2" Type="http://schemas.openxmlformats.org/officeDocument/2006/relationships/image" Target="../media/image4.svg"/><Relationship Id="rId1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.svg"/><Relationship Id="rId3" Type="http://schemas.openxmlformats.org/officeDocument/2006/relationships/image" Target="../media/image22.png"/><Relationship Id="rId2" Type="http://schemas.openxmlformats.org/officeDocument/2006/relationships/image" Target="../media/image4.svg"/><Relationship Id="rId1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svg"/><Relationship Id="rId1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svg"/><Relationship Id="rId8" Type="http://schemas.openxmlformats.org/officeDocument/2006/relationships/image" Target="../media/image28.png"/><Relationship Id="rId7" Type="http://schemas.openxmlformats.org/officeDocument/2006/relationships/image" Target="../media/image27.jpeg"/><Relationship Id="rId6" Type="http://schemas.openxmlformats.org/officeDocument/2006/relationships/image" Target="../media/image6.svg"/><Relationship Id="rId5" Type="http://schemas.openxmlformats.org/officeDocument/2006/relationships/image" Target="../media/image23.png"/><Relationship Id="rId4" Type="http://schemas.openxmlformats.org/officeDocument/2006/relationships/image" Target="../media/image4.svg"/><Relationship Id="rId3" Type="http://schemas.openxmlformats.org/officeDocument/2006/relationships/image" Target="../media/image21.png"/><Relationship Id="rId2" Type="http://schemas.openxmlformats.org/officeDocument/2006/relationships/image" Target="../media/image2.svg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11.svg"/><Relationship Id="rId10" Type="http://schemas.openxmlformats.org/officeDocument/2006/relationships/image" Target="../media/image29.png"/><Relationship Id="rId1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112C">
                <a:alpha val="100000"/>
              </a:srgbClr>
            </a:gs>
            <a:gs pos="100000">
              <a:srgbClr val="17307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2180502" y="-997422"/>
            <a:ext cx="7588781" cy="1994845"/>
          </a:xfrm>
          <a:custGeom>
            <a:avLst/>
            <a:gdLst/>
            <a:ahLst/>
            <a:cxnLst/>
            <a:rect l="l" t="t" r="r" b="b"/>
            <a:pathLst>
              <a:path w="7588781" h="1994845">
                <a:moveTo>
                  <a:pt x="7588781" y="1994844"/>
                </a:moveTo>
                <a:lnTo>
                  <a:pt x="0" y="1994844"/>
                </a:lnTo>
                <a:lnTo>
                  <a:pt x="0" y="0"/>
                </a:lnTo>
                <a:lnTo>
                  <a:pt x="7588781" y="0"/>
                </a:lnTo>
                <a:lnTo>
                  <a:pt x="7588781" y="1994844"/>
                </a:lnTo>
                <a:close/>
              </a:path>
            </a:pathLst>
          </a:custGeom>
          <a:blipFill>
            <a:blip r:embed="rId1">
              <a:alphaModFix amt="4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256902" y="9510243"/>
            <a:ext cx="5973934" cy="1570354"/>
          </a:xfrm>
          <a:custGeom>
            <a:avLst/>
            <a:gdLst/>
            <a:ahLst/>
            <a:cxnLst/>
            <a:rect l="l" t="t" r="r" b="b"/>
            <a:pathLst>
              <a:path w="5973934" h="1570354">
                <a:moveTo>
                  <a:pt x="0" y="0"/>
                </a:moveTo>
                <a:lnTo>
                  <a:pt x="5973934" y="0"/>
                </a:lnTo>
                <a:lnTo>
                  <a:pt x="5973934" y="1570354"/>
                </a:lnTo>
                <a:lnTo>
                  <a:pt x="0" y="157035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4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3597326">
            <a:off x="-1390225" y="-7810124"/>
            <a:ext cx="2780449" cy="17374172"/>
            <a:chOff x="0" y="0"/>
            <a:chExt cx="732299" cy="457591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32299" cy="4575913"/>
            </a:xfrm>
            <a:custGeom>
              <a:avLst/>
              <a:gdLst/>
              <a:ahLst/>
              <a:cxnLst/>
              <a:rect l="l" t="t" r="r" b="b"/>
              <a:pathLst>
                <a:path w="732299" h="4575913">
                  <a:moveTo>
                    <a:pt x="0" y="0"/>
                  </a:moveTo>
                  <a:lnTo>
                    <a:pt x="732299" y="0"/>
                  </a:lnTo>
                  <a:lnTo>
                    <a:pt x="732299" y="4575913"/>
                  </a:lnTo>
                  <a:lnTo>
                    <a:pt x="0" y="4575913"/>
                  </a:lnTo>
                  <a:close/>
                </a:path>
              </a:pathLst>
            </a:custGeom>
            <a:gradFill rotWithShape="1">
              <a:gsLst>
                <a:gs pos="0">
                  <a:srgbClr val="1B8AC2">
                    <a:alpha val="100000"/>
                  </a:srgbClr>
                </a:gs>
                <a:gs pos="100000">
                  <a:srgbClr val="003875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732299" cy="46140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7" name="Group 7"/>
          <p:cNvGrpSpPr/>
          <p:nvPr/>
        </p:nvGrpSpPr>
        <p:grpSpPr>
          <a:xfrm rot="3597326">
            <a:off x="3036282" y="-3277221"/>
            <a:ext cx="780579" cy="7465407"/>
            <a:chOff x="0" y="0"/>
            <a:chExt cx="205585" cy="196619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5585" cy="1966198"/>
            </a:xfrm>
            <a:custGeom>
              <a:avLst/>
              <a:gdLst/>
              <a:ahLst/>
              <a:cxnLst/>
              <a:rect l="l" t="t" r="r" b="b"/>
              <a:pathLst>
                <a:path w="205585" h="1966198">
                  <a:moveTo>
                    <a:pt x="0" y="0"/>
                  </a:moveTo>
                  <a:lnTo>
                    <a:pt x="205585" y="0"/>
                  </a:lnTo>
                  <a:lnTo>
                    <a:pt x="205585" y="1966198"/>
                  </a:lnTo>
                  <a:lnTo>
                    <a:pt x="0" y="1966198"/>
                  </a:lnTo>
                  <a:close/>
                </a:path>
              </a:pathLst>
            </a:custGeom>
            <a:gradFill rotWithShape="1">
              <a:gsLst>
                <a:gs pos="0">
                  <a:srgbClr val="3199CE">
                    <a:alpha val="100000"/>
                  </a:srgbClr>
                </a:gs>
                <a:gs pos="50000">
                  <a:srgbClr val="3199CE">
                    <a:alpha val="71000"/>
                  </a:srgbClr>
                </a:gs>
                <a:gs pos="100000">
                  <a:srgbClr val="3199CE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05585" cy="20042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0" name="Freeform 10"/>
          <p:cNvSpPr/>
          <p:nvPr/>
        </p:nvSpPr>
        <p:spPr>
          <a:xfrm>
            <a:off x="6277579" y="3802200"/>
            <a:ext cx="7063735" cy="7063735"/>
          </a:xfrm>
          <a:custGeom>
            <a:avLst/>
            <a:gdLst/>
            <a:ahLst/>
            <a:cxnLst/>
            <a:rect l="l" t="t" r="r" b="b"/>
            <a:pathLst>
              <a:path w="7063735" h="7063735">
                <a:moveTo>
                  <a:pt x="0" y="0"/>
                </a:moveTo>
                <a:lnTo>
                  <a:pt x="7063735" y="0"/>
                </a:lnTo>
                <a:lnTo>
                  <a:pt x="7063735" y="7063735"/>
                </a:lnTo>
                <a:lnTo>
                  <a:pt x="0" y="70637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 rot="-3582119">
            <a:off x="3208945" y="-984054"/>
            <a:ext cx="3498610" cy="17374172"/>
            <a:chOff x="0" y="0"/>
            <a:chExt cx="921445" cy="457591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21445" cy="4575913"/>
            </a:xfrm>
            <a:custGeom>
              <a:avLst/>
              <a:gdLst/>
              <a:ahLst/>
              <a:cxnLst/>
              <a:rect l="l" t="t" r="r" b="b"/>
              <a:pathLst>
                <a:path w="921445" h="4575913">
                  <a:moveTo>
                    <a:pt x="0" y="0"/>
                  </a:moveTo>
                  <a:lnTo>
                    <a:pt x="921445" y="0"/>
                  </a:lnTo>
                  <a:lnTo>
                    <a:pt x="921445" y="4575913"/>
                  </a:lnTo>
                  <a:lnTo>
                    <a:pt x="0" y="4575913"/>
                  </a:lnTo>
                  <a:close/>
                </a:path>
              </a:pathLst>
            </a:custGeom>
            <a:gradFill rotWithShape="1">
              <a:gsLst>
                <a:gs pos="0">
                  <a:srgbClr val="1B8AC2">
                    <a:alpha val="100000"/>
                  </a:srgbClr>
                </a:gs>
                <a:gs pos="100000">
                  <a:srgbClr val="003875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921445" cy="46140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4" name="Group 14"/>
          <p:cNvGrpSpPr/>
          <p:nvPr/>
        </p:nvGrpSpPr>
        <p:grpSpPr>
          <a:xfrm rot="-3582119">
            <a:off x="2211863" y="-6160378"/>
            <a:ext cx="2124063" cy="24199806"/>
            <a:chOff x="0" y="0"/>
            <a:chExt cx="559424" cy="637361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59424" cy="6373612"/>
            </a:xfrm>
            <a:custGeom>
              <a:avLst/>
              <a:gdLst/>
              <a:ahLst/>
              <a:cxnLst/>
              <a:rect l="l" t="t" r="r" b="b"/>
              <a:pathLst>
                <a:path w="559424" h="6373612">
                  <a:moveTo>
                    <a:pt x="0" y="0"/>
                  </a:moveTo>
                  <a:lnTo>
                    <a:pt x="559424" y="0"/>
                  </a:lnTo>
                  <a:lnTo>
                    <a:pt x="559424" y="6373612"/>
                  </a:lnTo>
                  <a:lnTo>
                    <a:pt x="0" y="6373612"/>
                  </a:lnTo>
                  <a:close/>
                </a:path>
              </a:pathLst>
            </a:custGeom>
            <a:gradFill rotWithShape="1">
              <a:gsLst>
                <a:gs pos="0">
                  <a:srgbClr val="003875">
                    <a:alpha val="100000"/>
                  </a:srgbClr>
                </a:gs>
                <a:gs pos="100000">
                  <a:srgbClr val="1B8AC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559424" cy="64117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7" name="Group 17"/>
          <p:cNvGrpSpPr/>
          <p:nvPr/>
        </p:nvGrpSpPr>
        <p:grpSpPr>
          <a:xfrm rot="-3582119">
            <a:off x="10555281" y="5549443"/>
            <a:ext cx="1028816" cy="7921600"/>
            <a:chOff x="0" y="0"/>
            <a:chExt cx="270964" cy="208634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70964" cy="2086347"/>
            </a:xfrm>
            <a:custGeom>
              <a:avLst/>
              <a:gdLst/>
              <a:ahLst/>
              <a:cxnLst/>
              <a:rect l="l" t="t" r="r" b="b"/>
              <a:pathLst>
                <a:path w="270964" h="2086347">
                  <a:moveTo>
                    <a:pt x="0" y="0"/>
                  </a:moveTo>
                  <a:lnTo>
                    <a:pt x="270964" y="0"/>
                  </a:lnTo>
                  <a:lnTo>
                    <a:pt x="270964" y="2086347"/>
                  </a:lnTo>
                  <a:lnTo>
                    <a:pt x="0" y="2086347"/>
                  </a:lnTo>
                  <a:close/>
                </a:path>
              </a:pathLst>
            </a:custGeom>
            <a:gradFill rotWithShape="1">
              <a:gsLst>
                <a:gs pos="0">
                  <a:srgbClr val="3199CE">
                    <a:alpha val="0"/>
                  </a:srgbClr>
                </a:gs>
                <a:gs pos="50000">
                  <a:srgbClr val="3199CE">
                    <a:alpha val="71000"/>
                  </a:srgbClr>
                </a:gs>
                <a:gs pos="100000">
                  <a:srgbClr val="3199C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70964" cy="21244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0" name="Group 20"/>
          <p:cNvGrpSpPr/>
          <p:nvPr/>
        </p:nvGrpSpPr>
        <p:grpSpPr>
          <a:xfrm rot="-3582119">
            <a:off x="-62893" y="2295467"/>
            <a:ext cx="1008444" cy="9442484"/>
            <a:chOff x="0" y="0"/>
            <a:chExt cx="265598" cy="248690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65598" cy="2486909"/>
            </a:xfrm>
            <a:custGeom>
              <a:avLst/>
              <a:gdLst/>
              <a:ahLst/>
              <a:cxnLst/>
              <a:rect l="l" t="t" r="r" b="b"/>
              <a:pathLst>
                <a:path w="265598" h="2486909">
                  <a:moveTo>
                    <a:pt x="0" y="0"/>
                  </a:moveTo>
                  <a:lnTo>
                    <a:pt x="265598" y="0"/>
                  </a:lnTo>
                  <a:lnTo>
                    <a:pt x="265598" y="2486909"/>
                  </a:lnTo>
                  <a:lnTo>
                    <a:pt x="0" y="2486909"/>
                  </a:lnTo>
                  <a:close/>
                </a:path>
              </a:pathLst>
            </a:custGeom>
            <a:gradFill rotWithShape="1">
              <a:gsLst>
                <a:gs pos="0">
                  <a:srgbClr val="3199CE">
                    <a:alpha val="100000"/>
                  </a:srgbClr>
                </a:gs>
                <a:gs pos="50000">
                  <a:srgbClr val="3199CE">
                    <a:alpha val="71000"/>
                  </a:srgbClr>
                </a:gs>
                <a:gs pos="100000">
                  <a:srgbClr val="3199CE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265598" cy="25250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23" name="Freeform 23"/>
          <p:cNvSpPr/>
          <p:nvPr/>
        </p:nvSpPr>
        <p:spPr>
          <a:xfrm>
            <a:off x="889661" y="1546879"/>
            <a:ext cx="6225425" cy="7193243"/>
          </a:xfrm>
          <a:custGeom>
            <a:avLst/>
            <a:gdLst/>
            <a:ahLst/>
            <a:cxnLst/>
            <a:rect l="l" t="t" r="r" b="b"/>
            <a:pathLst>
              <a:path w="6225425" h="7193243">
                <a:moveTo>
                  <a:pt x="0" y="0"/>
                </a:moveTo>
                <a:lnTo>
                  <a:pt x="6225425" y="0"/>
                </a:lnTo>
                <a:lnTo>
                  <a:pt x="6225425" y="7193242"/>
                </a:lnTo>
                <a:lnTo>
                  <a:pt x="0" y="71932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24" name="Group 24"/>
          <p:cNvGrpSpPr/>
          <p:nvPr/>
        </p:nvGrpSpPr>
        <p:grpSpPr>
          <a:xfrm rot="0">
            <a:off x="1151604" y="1826242"/>
            <a:ext cx="5701538" cy="6634517"/>
            <a:chOff x="0" y="0"/>
            <a:chExt cx="6985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7"/>
              <a:stretch>
                <a:fillRect l="-115649" r="-53788"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 rot="-5400000">
            <a:off x="643339" y="8620295"/>
            <a:ext cx="1226279" cy="1053834"/>
            <a:chOff x="0" y="0"/>
            <a:chExt cx="812800" cy="6985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77C0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9" name="Group 29"/>
          <p:cNvGrpSpPr/>
          <p:nvPr/>
        </p:nvGrpSpPr>
        <p:grpSpPr>
          <a:xfrm rot="-5400000">
            <a:off x="7780640" y="1524862"/>
            <a:ext cx="1385127" cy="1190343"/>
            <a:chOff x="0" y="0"/>
            <a:chExt cx="812800" cy="6985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77C0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32" name="Group 32"/>
          <p:cNvGrpSpPr/>
          <p:nvPr/>
        </p:nvGrpSpPr>
        <p:grpSpPr>
          <a:xfrm rot="-2700000">
            <a:off x="555240" y="9318607"/>
            <a:ext cx="550010" cy="550010"/>
            <a:chOff x="0" y="0"/>
            <a:chExt cx="364557" cy="364557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64557" cy="364557"/>
            </a:xfrm>
            <a:custGeom>
              <a:avLst/>
              <a:gdLst/>
              <a:ahLst/>
              <a:cxnLst/>
              <a:rect l="l" t="t" r="r" b="b"/>
              <a:pathLst>
                <a:path w="364557" h="364557">
                  <a:moveTo>
                    <a:pt x="0" y="0"/>
                  </a:moveTo>
                  <a:lnTo>
                    <a:pt x="364557" y="0"/>
                  </a:lnTo>
                  <a:lnTo>
                    <a:pt x="364557" y="364557"/>
                  </a:lnTo>
                  <a:lnTo>
                    <a:pt x="0" y="364557"/>
                  </a:ln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364557" cy="4026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35" name="Group 35"/>
          <p:cNvGrpSpPr/>
          <p:nvPr/>
        </p:nvGrpSpPr>
        <p:grpSpPr>
          <a:xfrm rot="-2700000">
            <a:off x="7761589" y="2404577"/>
            <a:ext cx="621257" cy="621257"/>
            <a:chOff x="0" y="0"/>
            <a:chExt cx="364557" cy="364557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64557" cy="364557"/>
            </a:xfrm>
            <a:custGeom>
              <a:avLst/>
              <a:gdLst/>
              <a:ahLst/>
              <a:cxnLst/>
              <a:rect l="l" t="t" r="r" b="b"/>
              <a:pathLst>
                <a:path w="364557" h="364557">
                  <a:moveTo>
                    <a:pt x="0" y="0"/>
                  </a:moveTo>
                  <a:lnTo>
                    <a:pt x="364557" y="0"/>
                  </a:lnTo>
                  <a:lnTo>
                    <a:pt x="364557" y="364557"/>
                  </a:lnTo>
                  <a:lnTo>
                    <a:pt x="0" y="364557"/>
                  </a:ln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364557" cy="4026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38" name="Freeform 38"/>
          <p:cNvSpPr/>
          <p:nvPr/>
        </p:nvSpPr>
        <p:spPr>
          <a:xfrm>
            <a:off x="1256479" y="8816477"/>
            <a:ext cx="1147444" cy="139780"/>
          </a:xfrm>
          <a:custGeom>
            <a:avLst/>
            <a:gdLst/>
            <a:ahLst/>
            <a:cxnLst/>
            <a:rect l="l" t="t" r="r" b="b"/>
            <a:pathLst>
              <a:path w="1147444" h="139780">
                <a:moveTo>
                  <a:pt x="0" y="0"/>
                </a:moveTo>
                <a:lnTo>
                  <a:pt x="1147444" y="0"/>
                </a:lnTo>
                <a:lnTo>
                  <a:pt x="1147444" y="139780"/>
                </a:lnTo>
                <a:lnTo>
                  <a:pt x="0" y="1397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8473203" y="1746458"/>
            <a:ext cx="1296079" cy="157886"/>
          </a:xfrm>
          <a:custGeom>
            <a:avLst/>
            <a:gdLst/>
            <a:ahLst/>
            <a:cxnLst/>
            <a:rect l="l" t="t" r="r" b="b"/>
            <a:pathLst>
              <a:path w="1296079" h="157886">
                <a:moveTo>
                  <a:pt x="0" y="0"/>
                </a:moveTo>
                <a:lnTo>
                  <a:pt x="1296080" y="0"/>
                </a:lnTo>
                <a:lnTo>
                  <a:pt x="1296080" y="157886"/>
                </a:lnTo>
                <a:lnTo>
                  <a:pt x="0" y="1578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16689954" y="1039872"/>
            <a:ext cx="553914" cy="775198"/>
          </a:xfrm>
          <a:custGeom>
            <a:avLst/>
            <a:gdLst/>
            <a:ahLst/>
            <a:cxnLst/>
            <a:rect l="l" t="t" r="r" b="b"/>
            <a:pathLst>
              <a:path w="553914" h="775198">
                <a:moveTo>
                  <a:pt x="0" y="0"/>
                </a:moveTo>
                <a:lnTo>
                  <a:pt x="553915" y="0"/>
                </a:lnTo>
                <a:lnTo>
                  <a:pt x="553915" y="775198"/>
                </a:lnTo>
                <a:lnTo>
                  <a:pt x="0" y="77519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41" name="TextBox 41"/>
          <p:cNvSpPr txBox="1"/>
          <p:nvPr/>
        </p:nvSpPr>
        <p:spPr>
          <a:xfrm>
            <a:off x="7115086" y="2910212"/>
            <a:ext cx="10144214" cy="566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765"/>
              </a:lnSpc>
            </a:pPr>
            <a:r>
              <a:rPr lang="en-US" sz="4230" b="1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 </a:t>
            </a:r>
            <a:endParaRPr lang="en-US" sz="4230" b="1">
              <a:solidFill>
                <a:srgbClr val="FFFFFF"/>
              </a:solidFill>
              <a:latin typeface="Telegraf Bold" panose="00000800000000000000"/>
              <a:ea typeface="Telegraf Bold" panose="00000800000000000000"/>
              <a:cs typeface="Telegraf Bold" panose="00000800000000000000"/>
              <a:sym typeface="Telegraf Bold" panose="00000800000000000000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7115086" y="3305439"/>
            <a:ext cx="10144214" cy="3036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180"/>
              </a:lnSpc>
            </a:pPr>
            <a:r>
              <a:rPr lang="en-US" sz="8700" b="1">
                <a:solidFill>
                  <a:srgbClr val="FFFFFF"/>
                </a:solidFill>
                <a:latin typeface="Open Sauce Bold" panose="00000800000000000000"/>
                <a:ea typeface="Open Sauce Bold" panose="00000800000000000000"/>
                <a:cs typeface="Open Sauce Bold" panose="00000800000000000000"/>
                <a:sym typeface="Open Sauce Bold" panose="00000800000000000000"/>
              </a:rPr>
              <a:t>Web Application Vulnerabilities</a:t>
            </a:r>
            <a:endParaRPr lang="en-US" sz="8700" b="1">
              <a:solidFill>
                <a:srgbClr val="FFFFFF"/>
              </a:solidFill>
              <a:latin typeface="Open Sauce Bold" panose="00000800000000000000"/>
              <a:ea typeface="Open Sauce Bold" panose="00000800000000000000"/>
              <a:cs typeface="Open Sauce Bold" panose="00000800000000000000"/>
              <a:sym typeface="Open Sauce Bold" panose="00000800000000000000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7115086" y="6275330"/>
            <a:ext cx="10144214" cy="580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</a:pPr>
            <a:r>
              <a:rPr lang="en-US" sz="3400" b="1" i="1">
                <a:solidFill>
                  <a:srgbClr val="FFFFFF"/>
                </a:solidFill>
                <a:latin typeface="Canva Sans Bold Italics" panose="020B0803030501040103"/>
                <a:ea typeface="Canva Sans Bold Italics" panose="020B0803030501040103"/>
                <a:cs typeface="Canva Sans Bold Italics" panose="020B0803030501040103"/>
                <a:sym typeface="Canva Sans Bold Italics" panose="020B0803030501040103"/>
              </a:rPr>
              <a:t>Explaining the OWASP Top 10 Security Risks</a:t>
            </a:r>
            <a:endParaRPr lang="en-US" sz="3400" b="1" i="1">
              <a:solidFill>
                <a:srgbClr val="FFFFFF"/>
              </a:solidFill>
              <a:latin typeface="Canva Sans Bold Italics" panose="020B0803030501040103"/>
              <a:ea typeface="Canva Sans Bold Italics" panose="020B0803030501040103"/>
              <a:cs typeface="Canva Sans Bold Italics" panose="020B0803030501040103"/>
              <a:sym typeface="Canva Sans Bold Italics" panose="020B0803030501040103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13168723" y="9131020"/>
            <a:ext cx="4802033" cy="682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70"/>
              </a:lnSpc>
            </a:pPr>
            <a:r>
              <a:rPr lang="en-US" sz="3980" b="1" i="1">
                <a:solidFill>
                  <a:srgbClr val="FFFFFF"/>
                </a:solidFill>
                <a:latin typeface="Canva Sans Bold Italics" panose="020B0803030501040103"/>
                <a:ea typeface="Canva Sans Bold Italics" panose="020B0803030501040103"/>
                <a:cs typeface="Canva Sans Bold Italics" panose="020B0803030501040103"/>
                <a:sym typeface="Canva Sans Bold Italics" panose="020B0803030501040103"/>
              </a:rPr>
              <a:t>presented by:</a:t>
            </a:r>
            <a:r>
              <a:rPr lang="en-US" sz="3980" b="1">
                <a:solidFill>
                  <a:srgbClr val="FFFFFF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 Kutu</a:t>
            </a:r>
            <a:r>
              <a:rPr lang="en-US" sz="3980" b="1">
                <a:solidFill>
                  <a:srgbClr val="FFFFFF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 </a:t>
            </a:r>
            <a:endParaRPr lang="en-US" sz="3980" b="1">
              <a:solidFill>
                <a:srgbClr val="FFFFFF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112C">
                <a:alpha val="100000"/>
              </a:srgbClr>
            </a:gs>
            <a:gs pos="100000">
              <a:srgbClr val="17307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3611106">
            <a:off x="2092867" y="-6052544"/>
            <a:ext cx="3498610" cy="17374172"/>
            <a:chOff x="0" y="0"/>
            <a:chExt cx="921445" cy="457591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1445" cy="4575913"/>
            </a:xfrm>
            <a:custGeom>
              <a:avLst/>
              <a:gdLst/>
              <a:ahLst/>
              <a:cxnLst/>
              <a:rect l="l" t="t" r="r" b="b"/>
              <a:pathLst>
                <a:path w="921445" h="4575913">
                  <a:moveTo>
                    <a:pt x="0" y="0"/>
                  </a:moveTo>
                  <a:lnTo>
                    <a:pt x="921445" y="0"/>
                  </a:lnTo>
                  <a:lnTo>
                    <a:pt x="921445" y="4575913"/>
                  </a:lnTo>
                  <a:lnTo>
                    <a:pt x="0" y="4575913"/>
                  </a:lnTo>
                  <a:close/>
                </a:path>
              </a:pathLst>
            </a:custGeom>
            <a:gradFill rotWithShape="1">
              <a:gsLst>
                <a:gs pos="0">
                  <a:srgbClr val="1B8AC2">
                    <a:alpha val="100000"/>
                  </a:srgbClr>
                </a:gs>
                <a:gs pos="100000">
                  <a:srgbClr val="003875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21445" cy="46140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3611106">
            <a:off x="5148419" y="-10046971"/>
            <a:ext cx="2124063" cy="24199806"/>
            <a:chOff x="0" y="0"/>
            <a:chExt cx="559424" cy="637361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59424" cy="6373612"/>
            </a:xfrm>
            <a:custGeom>
              <a:avLst/>
              <a:gdLst/>
              <a:ahLst/>
              <a:cxnLst/>
              <a:rect l="l" t="t" r="r" b="b"/>
              <a:pathLst>
                <a:path w="559424" h="6373612">
                  <a:moveTo>
                    <a:pt x="0" y="0"/>
                  </a:moveTo>
                  <a:lnTo>
                    <a:pt x="559424" y="0"/>
                  </a:lnTo>
                  <a:lnTo>
                    <a:pt x="559424" y="6373612"/>
                  </a:lnTo>
                  <a:lnTo>
                    <a:pt x="0" y="6373612"/>
                  </a:lnTo>
                  <a:close/>
                </a:path>
              </a:pathLst>
            </a:custGeom>
            <a:gradFill rotWithShape="1">
              <a:gsLst>
                <a:gs pos="0">
                  <a:srgbClr val="003875">
                    <a:alpha val="100000"/>
                  </a:srgbClr>
                </a:gs>
                <a:gs pos="100000">
                  <a:srgbClr val="1B8AC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59424" cy="64117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3611106">
            <a:off x="-1224403" y="-765602"/>
            <a:ext cx="1028816" cy="7921600"/>
            <a:chOff x="0" y="0"/>
            <a:chExt cx="270964" cy="208634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0964" cy="2086347"/>
            </a:xfrm>
            <a:custGeom>
              <a:avLst/>
              <a:gdLst/>
              <a:ahLst/>
              <a:cxnLst/>
              <a:rect l="l" t="t" r="r" b="b"/>
              <a:pathLst>
                <a:path w="270964" h="2086347">
                  <a:moveTo>
                    <a:pt x="0" y="0"/>
                  </a:moveTo>
                  <a:lnTo>
                    <a:pt x="270964" y="0"/>
                  </a:lnTo>
                  <a:lnTo>
                    <a:pt x="270964" y="2086347"/>
                  </a:lnTo>
                  <a:lnTo>
                    <a:pt x="0" y="2086347"/>
                  </a:lnTo>
                  <a:close/>
                </a:path>
              </a:pathLst>
            </a:custGeom>
            <a:gradFill rotWithShape="1">
              <a:gsLst>
                <a:gs pos="0">
                  <a:srgbClr val="3199CE">
                    <a:alpha val="0"/>
                  </a:srgbClr>
                </a:gs>
                <a:gs pos="50000">
                  <a:srgbClr val="3199CE">
                    <a:alpha val="71000"/>
                  </a:srgbClr>
                </a:gs>
                <a:gs pos="100000">
                  <a:srgbClr val="3199C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70964" cy="21244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 rot="3611106">
            <a:off x="11106544" y="-3937070"/>
            <a:ext cx="1028816" cy="7921600"/>
            <a:chOff x="0" y="0"/>
            <a:chExt cx="270964" cy="208634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70964" cy="2086347"/>
            </a:xfrm>
            <a:custGeom>
              <a:avLst/>
              <a:gdLst/>
              <a:ahLst/>
              <a:cxnLst/>
              <a:rect l="l" t="t" r="r" b="b"/>
              <a:pathLst>
                <a:path w="270964" h="2086347">
                  <a:moveTo>
                    <a:pt x="0" y="0"/>
                  </a:moveTo>
                  <a:lnTo>
                    <a:pt x="270964" y="0"/>
                  </a:lnTo>
                  <a:lnTo>
                    <a:pt x="270964" y="2086347"/>
                  </a:lnTo>
                  <a:lnTo>
                    <a:pt x="0" y="2086347"/>
                  </a:lnTo>
                  <a:close/>
                </a:path>
              </a:pathLst>
            </a:custGeom>
            <a:gradFill rotWithShape="1">
              <a:gsLst>
                <a:gs pos="0">
                  <a:srgbClr val="3199CE">
                    <a:alpha val="100000"/>
                  </a:srgbClr>
                </a:gs>
                <a:gs pos="50000">
                  <a:srgbClr val="3199CE">
                    <a:alpha val="71000"/>
                  </a:srgbClr>
                </a:gs>
                <a:gs pos="100000">
                  <a:srgbClr val="3199CE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70964" cy="21244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4" name="Freeform 14"/>
          <p:cNvSpPr/>
          <p:nvPr/>
        </p:nvSpPr>
        <p:spPr>
          <a:xfrm>
            <a:off x="4683898" y="4181103"/>
            <a:ext cx="5534900" cy="5534900"/>
          </a:xfrm>
          <a:custGeom>
            <a:avLst/>
            <a:gdLst/>
            <a:ahLst/>
            <a:cxnLst/>
            <a:rect l="l" t="t" r="r" b="b"/>
            <a:pathLst>
              <a:path w="5534900" h="5534900">
                <a:moveTo>
                  <a:pt x="0" y="0"/>
                </a:moveTo>
                <a:lnTo>
                  <a:pt x="5534900" y="0"/>
                </a:lnTo>
                <a:lnTo>
                  <a:pt x="5534900" y="5534900"/>
                </a:lnTo>
                <a:lnTo>
                  <a:pt x="0" y="55349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889661" y="1110436"/>
            <a:ext cx="6225425" cy="7193243"/>
          </a:xfrm>
          <a:custGeom>
            <a:avLst/>
            <a:gdLst/>
            <a:ahLst/>
            <a:cxnLst/>
            <a:rect l="l" t="t" r="r" b="b"/>
            <a:pathLst>
              <a:path w="6225425" h="7193243">
                <a:moveTo>
                  <a:pt x="0" y="0"/>
                </a:moveTo>
                <a:lnTo>
                  <a:pt x="6225425" y="0"/>
                </a:lnTo>
                <a:lnTo>
                  <a:pt x="6225425" y="7193242"/>
                </a:lnTo>
                <a:lnTo>
                  <a:pt x="0" y="71932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 rot="0">
            <a:off x="1151604" y="1389799"/>
            <a:ext cx="5701538" cy="6634517"/>
            <a:chOff x="0" y="0"/>
            <a:chExt cx="6985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5"/>
              <a:stretch>
                <a:fillRect l="-42905" r="-42905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 rot="-5400000">
            <a:off x="1024962" y="8223343"/>
            <a:ext cx="1268701" cy="1090290"/>
            <a:chOff x="0" y="0"/>
            <a:chExt cx="812800" cy="6985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77C0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1" name="Group 21"/>
          <p:cNvGrpSpPr/>
          <p:nvPr/>
        </p:nvGrpSpPr>
        <p:grpSpPr>
          <a:xfrm rot="-2700000">
            <a:off x="1007513" y="9029114"/>
            <a:ext cx="569037" cy="569037"/>
            <a:chOff x="0" y="0"/>
            <a:chExt cx="364557" cy="36455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64557" cy="364557"/>
            </a:xfrm>
            <a:custGeom>
              <a:avLst/>
              <a:gdLst/>
              <a:ahLst/>
              <a:cxnLst/>
              <a:rect l="l" t="t" r="r" b="b"/>
              <a:pathLst>
                <a:path w="364557" h="364557">
                  <a:moveTo>
                    <a:pt x="0" y="0"/>
                  </a:moveTo>
                  <a:lnTo>
                    <a:pt x="364557" y="0"/>
                  </a:lnTo>
                  <a:lnTo>
                    <a:pt x="364557" y="364557"/>
                  </a:lnTo>
                  <a:lnTo>
                    <a:pt x="0" y="364557"/>
                  </a:ln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364557" cy="4026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24" name="Freeform 24"/>
          <p:cNvSpPr/>
          <p:nvPr/>
        </p:nvSpPr>
        <p:spPr>
          <a:xfrm>
            <a:off x="1659312" y="8426312"/>
            <a:ext cx="1187138" cy="144615"/>
          </a:xfrm>
          <a:custGeom>
            <a:avLst/>
            <a:gdLst/>
            <a:ahLst/>
            <a:cxnLst/>
            <a:rect l="l" t="t" r="r" b="b"/>
            <a:pathLst>
              <a:path w="1187138" h="144615">
                <a:moveTo>
                  <a:pt x="0" y="0"/>
                </a:moveTo>
                <a:lnTo>
                  <a:pt x="1187139" y="0"/>
                </a:lnTo>
                <a:lnTo>
                  <a:pt x="1187139" y="144615"/>
                </a:lnTo>
                <a:lnTo>
                  <a:pt x="0" y="1446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/>
          <p:cNvGrpSpPr/>
          <p:nvPr/>
        </p:nvGrpSpPr>
        <p:grpSpPr>
          <a:xfrm rot="3611999">
            <a:off x="12520114" y="647951"/>
            <a:ext cx="2124063" cy="24199806"/>
            <a:chOff x="0" y="0"/>
            <a:chExt cx="559424" cy="637361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59424" cy="6373612"/>
            </a:xfrm>
            <a:custGeom>
              <a:avLst/>
              <a:gdLst/>
              <a:ahLst/>
              <a:cxnLst/>
              <a:rect l="l" t="t" r="r" b="b"/>
              <a:pathLst>
                <a:path w="559424" h="6373612">
                  <a:moveTo>
                    <a:pt x="0" y="0"/>
                  </a:moveTo>
                  <a:lnTo>
                    <a:pt x="559424" y="0"/>
                  </a:lnTo>
                  <a:lnTo>
                    <a:pt x="559424" y="6373612"/>
                  </a:lnTo>
                  <a:lnTo>
                    <a:pt x="0" y="6373612"/>
                  </a:lnTo>
                  <a:close/>
                </a:path>
              </a:pathLst>
            </a:custGeom>
            <a:gradFill rotWithShape="1">
              <a:gsLst>
                <a:gs pos="0">
                  <a:srgbClr val="1B8AC2">
                    <a:alpha val="100000"/>
                  </a:srgbClr>
                </a:gs>
                <a:gs pos="100000">
                  <a:srgbClr val="003875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559424" cy="64117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8" name="Group 28"/>
          <p:cNvGrpSpPr/>
          <p:nvPr/>
        </p:nvGrpSpPr>
        <p:grpSpPr>
          <a:xfrm rot="3611999">
            <a:off x="14958527" y="7773339"/>
            <a:ext cx="850040" cy="5702196"/>
            <a:chOff x="0" y="0"/>
            <a:chExt cx="223879" cy="1501813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23879" cy="1501813"/>
            </a:xfrm>
            <a:custGeom>
              <a:avLst/>
              <a:gdLst/>
              <a:ahLst/>
              <a:cxnLst/>
              <a:rect l="l" t="t" r="r" b="b"/>
              <a:pathLst>
                <a:path w="223879" h="1501813">
                  <a:moveTo>
                    <a:pt x="0" y="0"/>
                  </a:moveTo>
                  <a:lnTo>
                    <a:pt x="223879" y="0"/>
                  </a:lnTo>
                  <a:lnTo>
                    <a:pt x="223879" y="1501813"/>
                  </a:lnTo>
                  <a:lnTo>
                    <a:pt x="0" y="1501813"/>
                  </a:lnTo>
                  <a:close/>
                </a:path>
              </a:pathLst>
            </a:custGeom>
            <a:gradFill rotWithShape="1">
              <a:gsLst>
                <a:gs pos="0">
                  <a:srgbClr val="3199CE">
                    <a:alpha val="0"/>
                  </a:srgbClr>
                </a:gs>
                <a:gs pos="50000">
                  <a:srgbClr val="3199CE">
                    <a:alpha val="71000"/>
                  </a:srgbClr>
                </a:gs>
                <a:gs pos="100000">
                  <a:srgbClr val="3199C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223879" cy="15399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31" name="Freeform 31"/>
          <p:cNvSpPr/>
          <p:nvPr/>
        </p:nvSpPr>
        <p:spPr>
          <a:xfrm flipH="1">
            <a:off x="-2502359" y="9258300"/>
            <a:ext cx="7588781" cy="1994845"/>
          </a:xfrm>
          <a:custGeom>
            <a:avLst/>
            <a:gdLst/>
            <a:ahLst/>
            <a:cxnLst/>
            <a:rect l="l" t="t" r="r" b="b"/>
            <a:pathLst>
              <a:path w="7588781" h="1994845">
                <a:moveTo>
                  <a:pt x="7588781" y="0"/>
                </a:moveTo>
                <a:lnTo>
                  <a:pt x="0" y="0"/>
                </a:lnTo>
                <a:lnTo>
                  <a:pt x="0" y="1994845"/>
                </a:lnTo>
                <a:lnTo>
                  <a:pt x="7588781" y="1994845"/>
                </a:lnTo>
                <a:lnTo>
                  <a:pt x="7588781" y="0"/>
                </a:lnTo>
                <a:close/>
              </a:path>
            </a:pathLst>
          </a:custGeom>
          <a:blipFill>
            <a:blip r:embed="rId8">
              <a:alphaModFix amt="24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 flipH="1">
            <a:off x="14493610" y="-997422"/>
            <a:ext cx="7588781" cy="1994845"/>
          </a:xfrm>
          <a:custGeom>
            <a:avLst/>
            <a:gdLst/>
            <a:ahLst/>
            <a:cxnLst/>
            <a:rect l="l" t="t" r="r" b="b"/>
            <a:pathLst>
              <a:path w="7588781" h="1994845">
                <a:moveTo>
                  <a:pt x="7588780" y="0"/>
                </a:moveTo>
                <a:lnTo>
                  <a:pt x="0" y="0"/>
                </a:lnTo>
                <a:lnTo>
                  <a:pt x="0" y="1994844"/>
                </a:lnTo>
                <a:lnTo>
                  <a:pt x="7588780" y="1994844"/>
                </a:lnTo>
                <a:lnTo>
                  <a:pt x="7588780" y="0"/>
                </a:lnTo>
                <a:close/>
              </a:path>
            </a:pathLst>
          </a:custGeom>
          <a:blipFill>
            <a:blip r:embed="rId8">
              <a:alphaModFix amt="4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8803153" y="2773458"/>
            <a:ext cx="8456147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675"/>
              </a:lnSpc>
            </a:pPr>
            <a:r>
              <a:rPr lang="en-US" sz="7500" b="1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INT</a:t>
            </a:r>
            <a:r>
              <a:rPr lang="en-US" sz="7500" b="1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RODUCTION</a:t>
            </a:r>
            <a:endParaRPr lang="en-US" sz="7500" b="1">
              <a:solidFill>
                <a:srgbClr val="FFFFFF"/>
              </a:solidFill>
              <a:latin typeface="Telegraf Bold" panose="00000800000000000000"/>
              <a:ea typeface="Telegraf Bold" panose="00000800000000000000"/>
              <a:cs typeface="Telegraf Bold" panose="00000800000000000000"/>
              <a:sym typeface="Telegraf Bold" panose="00000800000000000000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7618523" y="3990562"/>
            <a:ext cx="9640777" cy="3926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9960" lvl="1" indent="-474980" algn="r">
              <a:lnSpc>
                <a:spcPts val="6160"/>
              </a:lnSpc>
              <a:buFont typeface="Arial" panose="020B0604020202020204"/>
              <a:buChar char="•"/>
            </a:pPr>
            <a:r>
              <a:rPr lang="en-US" sz="4400">
                <a:solidFill>
                  <a:srgbClr val="FFFFFF"/>
                </a:solidFill>
                <a:latin typeface="Telegraf" panose="00000500000000000000"/>
                <a:ea typeface="Telegraf" panose="00000500000000000000"/>
                <a:cs typeface="Telegraf" panose="00000500000000000000"/>
                <a:sym typeface="Telegraf" panose="00000500000000000000"/>
              </a:rPr>
              <a:t>Importance of web applications</a:t>
            </a:r>
            <a:endParaRPr lang="en-US" sz="4400">
              <a:solidFill>
                <a:srgbClr val="FFFFFF"/>
              </a:solidFill>
              <a:latin typeface="Telegraf" panose="00000500000000000000"/>
              <a:ea typeface="Telegraf" panose="00000500000000000000"/>
              <a:cs typeface="Telegraf" panose="00000500000000000000"/>
              <a:sym typeface="Telegraf" panose="00000500000000000000"/>
            </a:endParaRPr>
          </a:p>
          <a:p>
            <a:pPr marL="949960" lvl="1" indent="-474980" algn="r">
              <a:lnSpc>
                <a:spcPts val="6160"/>
              </a:lnSpc>
              <a:buFont typeface="Arial" panose="020B0604020202020204"/>
              <a:buChar char="•"/>
            </a:pPr>
            <a:r>
              <a:rPr lang="en-US" sz="4400">
                <a:solidFill>
                  <a:srgbClr val="FFFFFF"/>
                </a:solidFill>
                <a:latin typeface="Telegraf" panose="00000500000000000000"/>
                <a:ea typeface="Telegraf" panose="00000500000000000000"/>
                <a:cs typeface="Telegraf" panose="00000500000000000000"/>
                <a:sym typeface="Telegraf" panose="00000500000000000000"/>
              </a:rPr>
              <a:t>Why attackers target them</a:t>
            </a:r>
            <a:endParaRPr lang="en-US" sz="4400">
              <a:solidFill>
                <a:srgbClr val="FFFFFF"/>
              </a:solidFill>
              <a:latin typeface="Telegraf" panose="00000500000000000000"/>
              <a:ea typeface="Telegraf" panose="00000500000000000000"/>
              <a:cs typeface="Telegraf" panose="00000500000000000000"/>
              <a:sym typeface="Telegraf" panose="00000500000000000000"/>
            </a:endParaRPr>
          </a:p>
          <a:p>
            <a:pPr marL="949960" lvl="1" indent="-474980" algn="r">
              <a:lnSpc>
                <a:spcPts val="6160"/>
              </a:lnSpc>
              <a:buFont typeface="Arial" panose="020B0604020202020204"/>
              <a:buChar char="•"/>
            </a:pPr>
            <a:r>
              <a:rPr lang="en-US" sz="4400">
                <a:solidFill>
                  <a:srgbClr val="FFFFFF"/>
                </a:solidFill>
                <a:latin typeface="Telegraf" panose="00000500000000000000"/>
                <a:ea typeface="Telegraf" panose="00000500000000000000"/>
                <a:cs typeface="Telegraf" panose="00000500000000000000"/>
                <a:sym typeface="Telegraf" panose="00000500000000000000"/>
              </a:rPr>
              <a:t>Need for cybersecurity</a:t>
            </a:r>
            <a:endParaRPr lang="en-US" sz="4400">
              <a:solidFill>
                <a:srgbClr val="FFFFFF"/>
              </a:solidFill>
              <a:latin typeface="Telegraf" panose="00000500000000000000"/>
              <a:ea typeface="Telegraf" panose="00000500000000000000"/>
              <a:cs typeface="Telegraf" panose="00000500000000000000"/>
              <a:sym typeface="Telegraf" panose="00000500000000000000"/>
            </a:endParaRPr>
          </a:p>
          <a:p>
            <a:pPr marL="949960" lvl="1" indent="-474980" algn="r">
              <a:lnSpc>
                <a:spcPts val="6160"/>
              </a:lnSpc>
              <a:buFont typeface="Arial" panose="020B0604020202020204"/>
              <a:buChar char="•"/>
            </a:pPr>
            <a:r>
              <a:rPr lang="en-US" sz="4400">
                <a:solidFill>
                  <a:srgbClr val="FFFFFF"/>
                </a:solidFill>
                <a:latin typeface="Telegraf" panose="00000500000000000000"/>
                <a:ea typeface="Telegraf" panose="00000500000000000000"/>
                <a:cs typeface="Telegraf" panose="00000500000000000000"/>
                <a:sym typeface="Telegraf" panose="00000500000000000000"/>
              </a:rPr>
              <a:t>Purpose of OWASP</a:t>
            </a:r>
            <a:endParaRPr lang="en-US" sz="4400">
              <a:solidFill>
                <a:srgbClr val="FFFFFF"/>
              </a:solidFill>
              <a:latin typeface="Telegraf" panose="00000500000000000000"/>
              <a:ea typeface="Telegraf" panose="00000500000000000000"/>
              <a:cs typeface="Telegraf" panose="00000500000000000000"/>
              <a:sym typeface="Telegraf" panose="00000500000000000000"/>
            </a:endParaRPr>
          </a:p>
          <a:p>
            <a:pPr algn="r">
              <a:lnSpc>
                <a:spcPts val="61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73079">
                <a:alpha val="100000"/>
              </a:srgbClr>
            </a:gs>
            <a:gs pos="100000">
              <a:srgbClr val="07112C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3612000">
            <a:off x="12552622" y="-6052544"/>
            <a:ext cx="3498610" cy="17374172"/>
            <a:chOff x="0" y="0"/>
            <a:chExt cx="921445" cy="457591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1445" cy="4575913"/>
            </a:xfrm>
            <a:custGeom>
              <a:avLst/>
              <a:gdLst/>
              <a:ahLst/>
              <a:cxnLst/>
              <a:rect l="l" t="t" r="r" b="b"/>
              <a:pathLst>
                <a:path w="921445" h="4575913">
                  <a:moveTo>
                    <a:pt x="0" y="0"/>
                  </a:moveTo>
                  <a:lnTo>
                    <a:pt x="921445" y="0"/>
                  </a:lnTo>
                  <a:lnTo>
                    <a:pt x="921445" y="4575913"/>
                  </a:lnTo>
                  <a:lnTo>
                    <a:pt x="0" y="4575913"/>
                  </a:lnTo>
                  <a:close/>
                </a:path>
              </a:pathLst>
            </a:custGeom>
            <a:gradFill rotWithShape="1">
              <a:gsLst>
                <a:gs pos="0">
                  <a:srgbClr val="003875">
                    <a:alpha val="100000"/>
                  </a:srgbClr>
                </a:gs>
                <a:gs pos="100000">
                  <a:srgbClr val="1B8AC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21445" cy="46140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-3612000">
            <a:off x="15462693" y="-8966255"/>
            <a:ext cx="2124063" cy="24199806"/>
            <a:chOff x="0" y="0"/>
            <a:chExt cx="559424" cy="637361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59424" cy="6373612"/>
            </a:xfrm>
            <a:custGeom>
              <a:avLst/>
              <a:gdLst/>
              <a:ahLst/>
              <a:cxnLst/>
              <a:rect l="l" t="t" r="r" b="b"/>
              <a:pathLst>
                <a:path w="559424" h="6373612">
                  <a:moveTo>
                    <a:pt x="0" y="0"/>
                  </a:moveTo>
                  <a:lnTo>
                    <a:pt x="559424" y="0"/>
                  </a:lnTo>
                  <a:lnTo>
                    <a:pt x="559424" y="6373612"/>
                  </a:lnTo>
                  <a:lnTo>
                    <a:pt x="0" y="6373612"/>
                  </a:lnTo>
                  <a:close/>
                </a:path>
              </a:pathLst>
            </a:custGeom>
            <a:gradFill rotWithShape="1">
              <a:gsLst>
                <a:gs pos="0">
                  <a:srgbClr val="1B8AC2">
                    <a:alpha val="100000"/>
                  </a:srgbClr>
                </a:gs>
                <a:gs pos="100000">
                  <a:srgbClr val="003875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59424" cy="64117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-3612000">
            <a:off x="17614173" y="646"/>
            <a:ext cx="936020" cy="5702196"/>
            <a:chOff x="0" y="0"/>
            <a:chExt cx="246524" cy="150181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6524" cy="1501813"/>
            </a:xfrm>
            <a:custGeom>
              <a:avLst/>
              <a:gdLst/>
              <a:ahLst/>
              <a:cxnLst/>
              <a:rect l="l" t="t" r="r" b="b"/>
              <a:pathLst>
                <a:path w="246524" h="1501813">
                  <a:moveTo>
                    <a:pt x="0" y="0"/>
                  </a:moveTo>
                  <a:lnTo>
                    <a:pt x="246524" y="0"/>
                  </a:lnTo>
                  <a:lnTo>
                    <a:pt x="246524" y="1501813"/>
                  </a:lnTo>
                  <a:lnTo>
                    <a:pt x="0" y="1501813"/>
                  </a:lnTo>
                  <a:close/>
                </a:path>
              </a:pathLst>
            </a:custGeom>
            <a:gradFill rotWithShape="1">
              <a:gsLst>
                <a:gs pos="0">
                  <a:srgbClr val="3199CE">
                    <a:alpha val="0"/>
                  </a:srgbClr>
                </a:gs>
                <a:gs pos="50000">
                  <a:srgbClr val="3199CE">
                    <a:alpha val="71000"/>
                  </a:srgbClr>
                </a:gs>
                <a:gs pos="100000">
                  <a:srgbClr val="3199C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46524" cy="15399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1" name="Freeform 11"/>
          <p:cNvSpPr/>
          <p:nvPr/>
        </p:nvSpPr>
        <p:spPr>
          <a:xfrm>
            <a:off x="6345558" y="7457280"/>
            <a:ext cx="5596885" cy="5596885"/>
          </a:xfrm>
          <a:custGeom>
            <a:avLst/>
            <a:gdLst/>
            <a:ahLst/>
            <a:cxnLst/>
            <a:rect l="l" t="t" r="r" b="b"/>
            <a:pathLst>
              <a:path w="5596885" h="5596885">
                <a:moveTo>
                  <a:pt x="0" y="0"/>
                </a:moveTo>
                <a:lnTo>
                  <a:pt x="5596884" y="0"/>
                </a:lnTo>
                <a:lnTo>
                  <a:pt x="5596884" y="5596885"/>
                </a:lnTo>
                <a:lnTo>
                  <a:pt x="0" y="5596885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1177245" y="1110436"/>
            <a:ext cx="6225425" cy="7193243"/>
          </a:xfrm>
          <a:custGeom>
            <a:avLst/>
            <a:gdLst/>
            <a:ahLst/>
            <a:cxnLst/>
            <a:rect l="l" t="t" r="r" b="b"/>
            <a:pathLst>
              <a:path w="6225425" h="7193243">
                <a:moveTo>
                  <a:pt x="0" y="0"/>
                </a:moveTo>
                <a:lnTo>
                  <a:pt x="6225424" y="0"/>
                </a:lnTo>
                <a:lnTo>
                  <a:pt x="6225424" y="7193242"/>
                </a:lnTo>
                <a:lnTo>
                  <a:pt x="0" y="71932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 rot="0">
            <a:off x="11439188" y="1389799"/>
            <a:ext cx="5701538" cy="6634517"/>
            <a:chOff x="0" y="0"/>
            <a:chExt cx="6985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5"/>
              <a:stretch>
                <a:fillRect l="-37193" r="-37193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 rot="-3612000">
            <a:off x="6321419" y="-3741059"/>
            <a:ext cx="1028816" cy="7921600"/>
            <a:chOff x="0" y="0"/>
            <a:chExt cx="270964" cy="208634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64" cy="2086347"/>
            </a:xfrm>
            <a:custGeom>
              <a:avLst/>
              <a:gdLst/>
              <a:ahLst/>
              <a:cxnLst/>
              <a:rect l="l" t="t" r="r" b="b"/>
              <a:pathLst>
                <a:path w="270964" h="2086347">
                  <a:moveTo>
                    <a:pt x="0" y="0"/>
                  </a:moveTo>
                  <a:lnTo>
                    <a:pt x="270964" y="0"/>
                  </a:lnTo>
                  <a:lnTo>
                    <a:pt x="270964" y="2086347"/>
                  </a:lnTo>
                  <a:lnTo>
                    <a:pt x="0" y="2086347"/>
                  </a:lnTo>
                  <a:close/>
                </a:path>
              </a:pathLst>
            </a:custGeom>
            <a:gradFill rotWithShape="1">
              <a:gsLst>
                <a:gs pos="0">
                  <a:srgbClr val="3199CE">
                    <a:alpha val="100000"/>
                  </a:srgbClr>
                </a:gs>
                <a:gs pos="50000">
                  <a:srgbClr val="3199CE">
                    <a:alpha val="71000"/>
                  </a:srgbClr>
                </a:gs>
                <a:gs pos="100000">
                  <a:srgbClr val="3199CE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64" cy="21244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8" name="Group 18"/>
          <p:cNvGrpSpPr/>
          <p:nvPr/>
        </p:nvGrpSpPr>
        <p:grpSpPr>
          <a:xfrm rot="-3612000">
            <a:off x="3643823" y="647951"/>
            <a:ext cx="2124063" cy="24199806"/>
            <a:chOff x="0" y="0"/>
            <a:chExt cx="559424" cy="637361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59424" cy="6373612"/>
            </a:xfrm>
            <a:custGeom>
              <a:avLst/>
              <a:gdLst/>
              <a:ahLst/>
              <a:cxnLst/>
              <a:rect l="l" t="t" r="r" b="b"/>
              <a:pathLst>
                <a:path w="559424" h="6373612">
                  <a:moveTo>
                    <a:pt x="0" y="0"/>
                  </a:moveTo>
                  <a:lnTo>
                    <a:pt x="559424" y="0"/>
                  </a:lnTo>
                  <a:lnTo>
                    <a:pt x="559424" y="6373612"/>
                  </a:lnTo>
                  <a:lnTo>
                    <a:pt x="0" y="6373612"/>
                  </a:lnTo>
                  <a:close/>
                </a:path>
              </a:pathLst>
            </a:custGeom>
            <a:gradFill rotWithShape="1">
              <a:gsLst>
                <a:gs pos="0">
                  <a:srgbClr val="1B8AC2">
                    <a:alpha val="100000"/>
                  </a:srgbClr>
                </a:gs>
                <a:gs pos="100000">
                  <a:srgbClr val="003875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559424" cy="64117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1" name="Group 21"/>
          <p:cNvGrpSpPr/>
          <p:nvPr/>
        </p:nvGrpSpPr>
        <p:grpSpPr>
          <a:xfrm rot="-3612000">
            <a:off x="2479433" y="7773339"/>
            <a:ext cx="850040" cy="5702196"/>
            <a:chOff x="0" y="0"/>
            <a:chExt cx="223879" cy="150181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23879" cy="1501813"/>
            </a:xfrm>
            <a:custGeom>
              <a:avLst/>
              <a:gdLst/>
              <a:ahLst/>
              <a:cxnLst/>
              <a:rect l="l" t="t" r="r" b="b"/>
              <a:pathLst>
                <a:path w="223879" h="1501813">
                  <a:moveTo>
                    <a:pt x="0" y="0"/>
                  </a:moveTo>
                  <a:lnTo>
                    <a:pt x="223879" y="0"/>
                  </a:lnTo>
                  <a:lnTo>
                    <a:pt x="223879" y="1501813"/>
                  </a:lnTo>
                  <a:lnTo>
                    <a:pt x="0" y="1501813"/>
                  </a:lnTo>
                  <a:close/>
                </a:path>
              </a:pathLst>
            </a:custGeom>
            <a:gradFill rotWithShape="1">
              <a:gsLst>
                <a:gs pos="0">
                  <a:srgbClr val="3199CE">
                    <a:alpha val="0"/>
                  </a:srgbClr>
                </a:gs>
                <a:gs pos="50000">
                  <a:srgbClr val="3199CE">
                    <a:alpha val="71000"/>
                  </a:srgbClr>
                </a:gs>
                <a:gs pos="100000">
                  <a:srgbClr val="3199C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23879" cy="15399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24" name="Freeform 24"/>
          <p:cNvSpPr/>
          <p:nvPr/>
        </p:nvSpPr>
        <p:spPr>
          <a:xfrm>
            <a:off x="13200075" y="9258300"/>
            <a:ext cx="7588781" cy="1994845"/>
          </a:xfrm>
          <a:custGeom>
            <a:avLst/>
            <a:gdLst/>
            <a:ahLst/>
            <a:cxnLst/>
            <a:rect l="l" t="t" r="r" b="b"/>
            <a:pathLst>
              <a:path w="7588781" h="1994845">
                <a:moveTo>
                  <a:pt x="0" y="0"/>
                </a:moveTo>
                <a:lnTo>
                  <a:pt x="7588781" y="0"/>
                </a:lnTo>
                <a:lnTo>
                  <a:pt x="7588781" y="1994845"/>
                </a:lnTo>
                <a:lnTo>
                  <a:pt x="0" y="19948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/>
          <p:cNvGrpSpPr/>
          <p:nvPr/>
        </p:nvGrpSpPr>
        <p:grpSpPr>
          <a:xfrm rot="-5400000">
            <a:off x="15868836" y="8223343"/>
            <a:ext cx="1268701" cy="1090290"/>
            <a:chOff x="0" y="0"/>
            <a:chExt cx="812800" cy="6985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77C0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8" name="Group 28"/>
          <p:cNvGrpSpPr/>
          <p:nvPr/>
        </p:nvGrpSpPr>
        <p:grpSpPr>
          <a:xfrm rot="-2700000">
            <a:off x="15851386" y="9029114"/>
            <a:ext cx="569037" cy="569037"/>
            <a:chOff x="0" y="0"/>
            <a:chExt cx="364557" cy="364557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64557" cy="364557"/>
            </a:xfrm>
            <a:custGeom>
              <a:avLst/>
              <a:gdLst/>
              <a:ahLst/>
              <a:cxnLst/>
              <a:rect l="l" t="t" r="r" b="b"/>
              <a:pathLst>
                <a:path w="364557" h="364557">
                  <a:moveTo>
                    <a:pt x="0" y="0"/>
                  </a:moveTo>
                  <a:lnTo>
                    <a:pt x="364557" y="0"/>
                  </a:lnTo>
                  <a:lnTo>
                    <a:pt x="364557" y="364557"/>
                  </a:lnTo>
                  <a:lnTo>
                    <a:pt x="0" y="364557"/>
                  </a:ln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364557" cy="4026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31" name="Freeform 31"/>
          <p:cNvSpPr/>
          <p:nvPr/>
        </p:nvSpPr>
        <p:spPr>
          <a:xfrm>
            <a:off x="16503186" y="8426312"/>
            <a:ext cx="1187138" cy="144615"/>
          </a:xfrm>
          <a:custGeom>
            <a:avLst/>
            <a:gdLst/>
            <a:ahLst/>
            <a:cxnLst/>
            <a:rect l="l" t="t" r="r" b="b"/>
            <a:pathLst>
              <a:path w="1187138" h="144615">
                <a:moveTo>
                  <a:pt x="0" y="0"/>
                </a:moveTo>
                <a:lnTo>
                  <a:pt x="1187138" y="0"/>
                </a:lnTo>
                <a:lnTo>
                  <a:pt x="1187138" y="144615"/>
                </a:lnTo>
                <a:lnTo>
                  <a:pt x="0" y="1446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-3794390" y="-997422"/>
            <a:ext cx="7588781" cy="1994845"/>
          </a:xfrm>
          <a:custGeom>
            <a:avLst/>
            <a:gdLst/>
            <a:ahLst/>
            <a:cxnLst/>
            <a:rect l="l" t="t" r="r" b="b"/>
            <a:pathLst>
              <a:path w="7588781" h="1994845">
                <a:moveTo>
                  <a:pt x="0" y="0"/>
                </a:moveTo>
                <a:lnTo>
                  <a:pt x="7588780" y="0"/>
                </a:lnTo>
                <a:lnTo>
                  <a:pt x="7588780" y="1994844"/>
                </a:lnTo>
                <a:lnTo>
                  <a:pt x="0" y="19948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33" name="Group 33"/>
          <p:cNvGrpSpPr/>
          <p:nvPr/>
        </p:nvGrpSpPr>
        <p:grpSpPr>
          <a:xfrm rot="0">
            <a:off x="1028700" y="6409524"/>
            <a:ext cx="5458160" cy="848792"/>
            <a:chOff x="0" y="0"/>
            <a:chExt cx="4491705" cy="6985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491705" cy="698500"/>
            </a:xfrm>
            <a:custGeom>
              <a:avLst/>
              <a:gdLst/>
              <a:ahLst/>
              <a:cxnLst/>
              <a:rect l="l" t="t" r="r" b="b"/>
              <a:pathLst>
                <a:path w="4491705" h="698500">
                  <a:moveTo>
                    <a:pt x="4491705" y="349250"/>
                  </a:moveTo>
                  <a:lnTo>
                    <a:pt x="4288505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4288505" y="0"/>
                  </a:lnTo>
                  <a:lnTo>
                    <a:pt x="4491705" y="349250"/>
                  </a:lnTo>
                  <a:close/>
                </a:path>
              </a:pathLst>
            </a:custGeom>
            <a:solidFill>
              <a:srgbClr val="0077C0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114300" y="-38100"/>
              <a:ext cx="4263105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36" name="Group 36"/>
          <p:cNvGrpSpPr/>
          <p:nvPr/>
        </p:nvGrpSpPr>
        <p:grpSpPr>
          <a:xfrm rot="0">
            <a:off x="1028700" y="7722135"/>
            <a:ext cx="5458160" cy="848792"/>
            <a:chOff x="0" y="0"/>
            <a:chExt cx="4491705" cy="6985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491705" cy="698500"/>
            </a:xfrm>
            <a:custGeom>
              <a:avLst/>
              <a:gdLst/>
              <a:ahLst/>
              <a:cxnLst/>
              <a:rect l="l" t="t" r="r" b="b"/>
              <a:pathLst>
                <a:path w="4491705" h="698500">
                  <a:moveTo>
                    <a:pt x="4491705" y="349250"/>
                  </a:moveTo>
                  <a:lnTo>
                    <a:pt x="4288505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4288505" y="0"/>
                  </a:lnTo>
                  <a:lnTo>
                    <a:pt x="4491705" y="349250"/>
                  </a:lnTo>
                  <a:close/>
                </a:path>
              </a:pathLst>
            </a:custGeom>
            <a:solidFill>
              <a:srgbClr val="0077C0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114300" y="-38100"/>
              <a:ext cx="4263105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39" name="Group 39"/>
          <p:cNvGrpSpPr/>
          <p:nvPr/>
        </p:nvGrpSpPr>
        <p:grpSpPr>
          <a:xfrm rot="0">
            <a:off x="6862943" y="6409524"/>
            <a:ext cx="5458160" cy="848792"/>
            <a:chOff x="0" y="0"/>
            <a:chExt cx="4491705" cy="6985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491705" cy="698500"/>
            </a:xfrm>
            <a:custGeom>
              <a:avLst/>
              <a:gdLst/>
              <a:ahLst/>
              <a:cxnLst/>
              <a:rect l="l" t="t" r="r" b="b"/>
              <a:pathLst>
                <a:path w="4491705" h="698500">
                  <a:moveTo>
                    <a:pt x="4491705" y="349250"/>
                  </a:moveTo>
                  <a:lnTo>
                    <a:pt x="4288505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4288505" y="0"/>
                  </a:lnTo>
                  <a:lnTo>
                    <a:pt x="4491705" y="349250"/>
                  </a:lnTo>
                  <a:close/>
                </a:path>
              </a:pathLst>
            </a:custGeom>
            <a:solidFill>
              <a:srgbClr val="0077C0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114300" y="-38100"/>
              <a:ext cx="4263105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42" name="Group 42"/>
          <p:cNvGrpSpPr/>
          <p:nvPr/>
        </p:nvGrpSpPr>
        <p:grpSpPr>
          <a:xfrm rot="0">
            <a:off x="6862943" y="7722135"/>
            <a:ext cx="6247914" cy="848792"/>
            <a:chOff x="0" y="0"/>
            <a:chExt cx="5141620" cy="6985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5141620" cy="698500"/>
            </a:xfrm>
            <a:custGeom>
              <a:avLst/>
              <a:gdLst/>
              <a:ahLst/>
              <a:cxnLst/>
              <a:rect l="l" t="t" r="r" b="b"/>
              <a:pathLst>
                <a:path w="5141620" h="698500">
                  <a:moveTo>
                    <a:pt x="5141620" y="349250"/>
                  </a:moveTo>
                  <a:lnTo>
                    <a:pt x="493842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4938420" y="0"/>
                  </a:lnTo>
                  <a:lnTo>
                    <a:pt x="5141620" y="349250"/>
                  </a:lnTo>
                  <a:close/>
                </a:path>
              </a:pathLst>
            </a:custGeom>
            <a:solidFill>
              <a:srgbClr val="0077C0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114300" y="-38100"/>
              <a:ext cx="491302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487080" y="2493563"/>
            <a:ext cx="9499820" cy="2181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7500" b="1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WH</a:t>
            </a:r>
            <a:r>
              <a:rPr lang="en-US" sz="7500" b="1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AT IS OWASP?</a:t>
            </a:r>
            <a:endParaRPr lang="en-US" sz="7500" b="1">
              <a:solidFill>
                <a:srgbClr val="FFFFFF"/>
              </a:solidFill>
              <a:latin typeface="Telegraf Bold" panose="00000800000000000000"/>
              <a:ea typeface="Telegraf Bold" panose="00000800000000000000"/>
              <a:cs typeface="Telegraf Bold" panose="00000800000000000000"/>
              <a:sym typeface="Telegraf Bold" panose="00000800000000000000"/>
            </a:endParaRPr>
          </a:p>
          <a:p>
            <a:pPr algn="l">
              <a:lnSpc>
                <a:spcPts val="4500"/>
              </a:lnSpc>
            </a:pPr>
            <a:r>
              <a:rPr lang="en-US" sz="4500">
                <a:solidFill>
                  <a:srgbClr val="FFFFFF"/>
                </a:solidFill>
                <a:latin typeface="Telegraf" panose="00000500000000000000"/>
                <a:ea typeface="Telegraf" panose="00000500000000000000"/>
                <a:cs typeface="Telegraf" panose="00000500000000000000"/>
                <a:sym typeface="Telegraf" panose="00000500000000000000"/>
              </a:rPr>
              <a:t>OPEN WORLDWIDE APPLICATION SECURITY PROJECT (OWASP)</a:t>
            </a:r>
            <a:endParaRPr lang="en-US" sz="4500">
              <a:solidFill>
                <a:srgbClr val="FFFFFF"/>
              </a:solidFill>
              <a:latin typeface="Telegraf" panose="00000500000000000000"/>
              <a:ea typeface="Telegraf" panose="00000500000000000000"/>
              <a:cs typeface="Telegraf" panose="00000500000000000000"/>
              <a:sym typeface="Telegraf" panose="00000500000000000000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1316892" y="6521081"/>
            <a:ext cx="4272869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0"/>
              </a:lnSpc>
            </a:pPr>
            <a:r>
              <a:rPr lang="en-US" sz="3000" b="1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NON-P</a:t>
            </a:r>
            <a:r>
              <a:rPr lang="en-US" sz="3000" b="1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ROFIT ORGANIZATION</a:t>
            </a:r>
            <a:endParaRPr lang="en-US" sz="3000" b="1">
              <a:solidFill>
                <a:srgbClr val="FFFFFF"/>
              </a:solidFill>
              <a:latin typeface="Telegraf Bold" panose="00000800000000000000"/>
              <a:ea typeface="Telegraf Bold" panose="00000800000000000000"/>
              <a:cs typeface="Telegraf Bold" panose="00000800000000000000"/>
              <a:sym typeface="Telegraf Bold" panose="00000800000000000000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7071105" y="6521081"/>
            <a:ext cx="5041836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0"/>
              </a:lnSpc>
            </a:pPr>
            <a:r>
              <a:rPr lang="en-US" sz="3000" b="1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 IMPROVES</a:t>
            </a:r>
            <a:r>
              <a:rPr lang="en-US" sz="3000" b="1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 APPLICATION SECURITY</a:t>
            </a:r>
            <a:endParaRPr lang="en-US" sz="3000" b="1">
              <a:solidFill>
                <a:srgbClr val="FFFFFF"/>
              </a:solidFill>
              <a:latin typeface="Telegraf Bold" panose="00000800000000000000"/>
              <a:ea typeface="Telegraf Bold" panose="00000800000000000000"/>
              <a:cs typeface="Telegraf Bold" panose="00000800000000000000"/>
              <a:sym typeface="Telegraf Bold" panose="00000800000000000000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1394151" y="7833692"/>
            <a:ext cx="4727259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0"/>
              </a:lnSpc>
            </a:pPr>
            <a:r>
              <a:rPr lang="en-US" sz="3000" b="1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 PUB</a:t>
            </a:r>
            <a:r>
              <a:rPr lang="en-US" sz="3000" b="1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LISHES OWASP TOP 10</a:t>
            </a:r>
            <a:endParaRPr lang="en-US" sz="3000" b="1">
              <a:solidFill>
                <a:srgbClr val="FFFFFF"/>
              </a:solidFill>
              <a:latin typeface="Telegraf Bold" panose="00000800000000000000"/>
              <a:ea typeface="Telegraf Bold" panose="00000800000000000000"/>
              <a:cs typeface="Telegraf Bold" panose="00000800000000000000"/>
              <a:sym typeface="Telegraf Bold" panose="00000800000000000000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7257820" y="8000380"/>
            <a:ext cx="5458160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0"/>
              </a:lnSpc>
            </a:pPr>
            <a:r>
              <a:rPr lang="en-US" sz="3000" b="1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 USED WORLDWIDE</a:t>
            </a:r>
            <a:endParaRPr lang="en-US" sz="3000" b="1">
              <a:solidFill>
                <a:srgbClr val="FFFFFF"/>
              </a:solidFill>
              <a:latin typeface="Telegraf Bold" panose="00000800000000000000"/>
              <a:ea typeface="Telegraf Bold" panose="00000800000000000000"/>
              <a:cs typeface="Telegraf Bold" panose="00000800000000000000"/>
              <a:sym typeface="Telegraf Bold" panose="0000080000000000000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112C">
                <a:alpha val="100000"/>
              </a:srgbClr>
            </a:gs>
            <a:gs pos="100000">
              <a:srgbClr val="173079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3612000">
            <a:off x="5561020" y="736126"/>
            <a:ext cx="2124063" cy="24199806"/>
            <a:chOff x="0" y="0"/>
            <a:chExt cx="559424" cy="63736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59424" cy="6373612"/>
            </a:xfrm>
            <a:custGeom>
              <a:avLst/>
              <a:gdLst/>
              <a:ahLst/>
              <a:cxnLst/>
              <a:rect l="l" t="t" r="r" b="b"/>
              <a:pathLst>
                <a:path w="559424" h="6373612">
                  <a:moveTo>
                    <a:pt x="0" y="0"/>
                  </a:moveTo>
                  <a:lnTo>
                    <a:pt x="559424" y="0"/>
                  </a:lnTo>
                  <a:lnTo>
                    <a:pt x="559424" y="6373612"/>
                  </a:lnTo>
                  <a:lnTo>
                    <a:pt x="0" y="6373612"/>
                  </a:lnTo>
                  <a:close/>
                </a:path>
              </a:pathLst>
            </a:custGeom>
            <a:gradFill rotWithShape="1">
              <a:gsLst>
                <a:gs pos="0">
                  <a:srgbClr val="1B8AC2">
                    <a:alpha val="100000"/>
                  </a:srgbClr>
                </a:gs>
                <a:gs pos="100000">
                  <a:srgbClr val="003875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59424" cy="64117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3611999">
            <a:off x="10602917" y="736126"/>
            <a:ext cx="2124063" cy="24199806"/>
            <a:chOff x="0" y="0"/>
            <a:chExt cx="559424" cy="637361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59424" cy="6373612"/>
            </a:xfrm>
            <a:custGeom>
              <a:avLst/>
              <a:gdLst/>
              <a:ahLst/>
              <a:cxnLst/>
              <a:rect l="l" t="t" r="r" b="b"/>
              <a:pathLst>
                <a:path w="559424" h="6373612">
                  <a:moveTo>
                    <a:pt x="0" y="0"/>
                  </a:moveTo>
                  <a:lnTo>
                    <a:pt x="559424" y="0"/>
                  </a:lnTo>
                  <a:lnTo>
                    <a:pt x="559424" y="6373612"/>
                  </a:lnTo>
                  <a:lnTo>
                    <a:pt x="0" y="6373612"/>
                  </a:lnTo>
                  <a:close/>
                </a:path>
              </a:pathLst>
            </a:custGeom>
            <a:gradFill rotWithShape="1">
              <a:gsLst>
                <a:gs pos="0">
                  <a:srgbClr val="1B8AC2">
                    <a:alpha val="100000"/>
                  </a:srgbClr>
                </a:gs>
                <a:gs pos="100000">
                  <a:srgbClr val="003875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59424" cy="64117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-3612000">
            <a:off x="-654848" y="4941622"/>
            <a:ext cx="2124063" cy="11016594"/>
            <a:chOff x="0" y="0"/>
            <a:chExt cx="559424" cy="29014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59424" cy="2901490"/>
            </a:xfrm>
            <a:custGeom>
              <a:avLst/>
              <a:gdLst/>
              <a:ahLst/>
              <a:cxnLst/>
              <a:rect l="l" t="t" r="r" b="b"/>
              <a:pathLst>
                <a:path w="559424" h="2901490">
                  <a:moveTo>
                    <a:pt x="0" y="0"/>
                  </a:moveTo>
                  <a:lnTo>
                    <a:pt x="559424" y="0"/>
                  </a:lnTo>
                  <a:lnTo>
                    <a:pt x="559424" y="2901490"/>
                  </a:lnTo>
                  <a:lnTo>
                    <a:pt x="0" y="2901490"/>
                  </a:lnTo>
                  <a:close/>
                </a:path>
              </a:pathLst>
            </a:custGeom>
            <a:gradFill rotWithShape="1">
              <a:gsLst>
                <a:gs pos="0">
                  <a:srgbClr val="003875">
                    <a:alpha val="100000"/>
                  </a:srgbClr>
                </a:gs>
                <a:gs pos="100000">
                  <a:srgbClr val="1B8AC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59424" cy="29395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 rot="3611999">
            <a:off x="16818786" y="4941622"/>
            <a:ext cx="2124063" cy="11016594"/>
            <a:chOff x="0" y="0"/>
            <a:chExt cx="559424" cy="290149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59424" cy="2901490"/>
            </a:xfrm>
            <a:custGeom>
              <a:avLst/>
              <a:gdLst/>
              <a:ahLst/>
              <a:cxnLst/>
              <a:rect l="l" t="t" r="r" b="b"/>
              <a:pathLst>
                <a:path w="559424" h="2901490">
                  <a:moveTo>
                    <a:pt x="0" y="0"/>
                  </a:moveTo>
                  <a:lnTo>
                    <a:pt x="559424" y="0"/>
                  </a:lnTo>
                  <a:lnTo>
                    <a:pt x="559424" y="2901490"/>
                  </a:lnTo>
                  <a:lnTo>
                    <a:pt x="0" y="2901490"/>
                  </a:lnTo>
                  <a:close/>
                </a:path>
              </a:pathLst>
            </a:custGeom>
            <a:gradFill rotWithShape="1">
              <a:gsLst>
                <a:gs pos="0">
                  <a:srgbClr val="003875">
                    <a:alpha val="100000"/>
                  </a:srgbClr>
                </a:gs>
                <a:gs pos="100000">
                  <a:srgbClr val="1B8AC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559424" cy="29395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4" name="Group 14"/>
          <p:cNvGrpSpPr/>
          <p:nvPr/>
        </p:nvGrpSpPr>
        <p:grpSpPr>
          <a:xfrm rot="-3612000">
            <a:off x="3207494" y="7156584"/>
            <a:ext cx="850040" cy="5702196"/>
            <a:chOff x="0" y="0"/>
            <a:chExt cx="223879" cy="150181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23879" cy="1501813"/>
            </a:xfrm>
            <a:custGeom>
              <a:avLst/>
              <a:gdLst/>
              <a:ahLst/>
              <a:cxnLst/>
              <a:rect l="l" t="t" r="r" b="b"/>
              <a:pathLst>
                <a:path w="223879" h="1501813">
                  <a:moveTo>
                    <a:pt x="0" y="0"/>
                  </a:moveTo>
                  <a:lnTo>
                    <a:pt x="223879" y="0"/>
                  </a:lnTo>
                  <a:lnTo>
                    <a:pt x="223879" y="1501813"/>
                  </a:lnTo>
                  <a:lnTo>
                    <a:pt x="0" y="1501813"/>
                  </a:lnTo>
                  <a:close/>
                </a:path>
              </a:pathLst>
            </a:custGeom>
            <a:gradFill rotWithShape="1">
              <a:gsLst>
                <a:gs pos="0">
                  <a:srgbClr val="3199CE">
                    <a:alpha val="0"/>
                  </a:srgbClr>
                </a:gs>
                <a:gs pos="50000">
                  <a:srgbClr val="3199CE">
                    <a:alpha val="71000"/>
                  </a:srgbClr>
                </a:gs>
                <a:gs pos="100000">
                  <a:srgbClr val="3199C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23879" cy="15399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7" name="Group 17"/>
          <p:cNvGrpSpPr/>
          <p:nvPr/>
        </p:nvGrpSpPr>
        <p:grpSpPr>
          <a:xfrm rot="3611999">
            <a:off x="14230466" y="7156584"/>
            <a:ext cx="850040" cy="5702196"/>
            <a:chOff x="0" y="0"/>
            <a:chExt cx="223879" cy="150181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23879" cy="1501813"/>
            </a:xfrm>
            <a:custGeom>
              <a:avLst/>
              <a:gdLst/>
              <a:ahLst/>
              <a:cxnLst/>
              <a:rect l="l" t="t" r="r" b="b"/>
              <a:pathLst>
                <a:path w="223879" h="1501813">
                  <a:moveTo>
                    <a:pt x="0" y="0"/>
                  </a:moveTo>
                  <a:lnTo>
                    <a:pt x="223879" y="0"/>
                  </a:lnTo>
                  <a:lnTo>
                    <a:pt x="223879" y="1501813"/>
                  </a:lnTo>
                  <a:lnTo>
                    <a:pt x="0" y="1501813"/>
                  </a:lnTo>
                  <a:close/>
                </a:path>
              </a:pathLst>
            </a:custGeom>
            <a:gradFill rotWithShape="1">
              <a:gsLst>
                <a:gs pos="0">
                  <a:srgbClr val="3199CE">
                    <a:alpha val="0"/>
                  </a:srgbClr>
                </a:gs>
                <a:gs pos="50000">
                  <a:srgbClr val="3199CE">
                    <a:alpha val="71000"/>
                  </a:srgbClr>
                </a:gs>
                <a:gs pos="100000">
                  <a:srgbClr val="3199C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23879" cy="15399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20" name="Freeform 20"/>
          <p:cNvSpPr/>
          <p:nvPr/>
        </p:nvSpPr>
        <p:spPr>
          <a:xfrm flipH="1" flipV="1">
            <a:off x="-1210163" y="-787353"/>
            <a:ext cx="5990491" cy="1574706"/>
          </a:xfrm>
          <a:custGeom>
            <a:avLst/>
            <a:gdLst/>
            <a:ahLst/>
            <a:cxnLst/>
            <a:rect l="l" t="t" r="r" b="b"/>
            <a:pathLst>
              <a:path w="5990491" h="1574706">
                <a:moveTo>
                  <a:pt x="5990491" y="1574706"/>
                </a:moveTo>
                <a:lnTo>
                  <a:pt x="0" y="1574706"/>
                </a:lnTo>
                <a:lnTo>
                  <a:pt x="0" y="0"/>
                </a:lnTo>
                <a:lnTo>
                  <a:pt x="5990491" y="0"/>
                </a:lnTo>
                <a:lnTo>
                  <a:pt x="5990491" y="1574706"/>
                </a:lnTo>
                <a:close/>
              </a:path>
            </a:pathLst>
          </a:custGeom>
          <a:blipFill>
            <a:blip r:embed="rId1">
              <a:alphaModFix amt="4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 flipV="1">
            <a:off x="13507672" y="-787353"/>
            <a:ext cx="5990491" cy="1574706"/>
          </a:xfrm>
          <a:custGeom>
            <a:avLst/>
            <a:gdLst/>
            <a:ahLst/>
            <a:cxnLst/>
            <a:rect l="l" t="t" r="r" b="b"/>
            <a:pathLst>
              <a:path w="5990491" h="1574706">
                <a:moveTo>
                  <a:pt x="0" y="1574706"/>
                </a:moveTo>
                <a:lnTo>
                  <a:pt x="5990491" y="1574706"/>
                </a:lnTo>
                <a:lnTo>
                  <a:pt x="5990491" y="0"/>
                </a:lnTo>
                <a:lnTo>
                  <a:pt x="0" y="0"/>
                </a:lnTo>
                <a:lnTo>
                  <a:pt x="0" y="1574706"/>
                </a:lnTo>
                <a:close/>
              </a:path>
            </a:pathLst>
          </a:custGeom>
          <a:blipFill>
            <a:blip r:embed="rId1">
              <a:alphaModFix amt="4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4641438" y="650837"/>
            <a:ext cx="8456147" cy="2028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-232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OWASP TOP</a:t>
            </a:r>
            <a:r>
              <a:rPr lang="en-US" sz="7500" b="1" spc="-232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 10 OVERVIEW</a:t>
            </a:r>
            <a:endParaRPr lang="en-US" sz="7500" b="1" spc="-232">
              <a:solidFill>
                <a:srgbClr val="FFFFFF"/>
              </a:solidFill>
              <a:latin typeface="Telegraf Bold" panose="00000800000000000000"/>
              <a:ea typeface="Telegraf Bold" panose="00000800000000000000"/>
              <a:cs typeface="Telegraf Bold" panose="00000800000000000000"/>
              <a:sym typeface="Telegraf Bold" panose="00000800000000000000"/>
            </a:endParaRPr>
          </a:p>
        </p:txBody>
      </p:sp>
      <p:grpSp>
        <p:nvGrpSpPr>
          <p:cNvPr id="23" name="Group 23"/>
          <p:cNvGrpSpPr/>
          <p:nvPr/>
        </p:nvGrpSpPr>
        <p:grpSpPr>
          <a:xfrm rot="0">
            <a:off x="9579708" y="3418894"/>
            <a:ext cx="6497310" cy="1118014"/>
            <a:chOff x="0" y="0"/>
            <a:chExt cx="5346856" cy="92005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346856" cy="920051"/>
            </a:xfrm>
            <a:custGeom>
              <a:avLst/>
              <a:gdLst/>
              <a:ahLst/>
              <a:cxnLst/>
              <a:rect l="l" t="t" r="r" b="b"/>
              <a:pathLst>
                <a:path w="5346856" h="920051">
                  <a:moveTo>
                    <a:pt x="5346856" y="460026"/>
                  </a:moveTo>
                  <a:lnTo>
                    <a:pt x="5143656" y="920051"/>
                  </a:lnTo>
                  <a:lnTo>
                    <a:pt x="203200" y="920051"/>
                  </a:lnTo>
                  <a:lnTo>
                    <a:pt x="0" y="460026"/>
                  </a:lnTo>
                  <a:lnTo>
                    <a:pt x="203200" y="0"/>
                  </a:lnTo>
                  <a:lnTo>
                    <a:pt x="5143656" y="0"/>
                  </a:lnTo>
                  <a:lnTo>
                    <a:pt x="5346856" y="460026"/>
                  </a:lnTo>
                  <a:close/>
                </a:path>
              </a:pathLst>
            </a:custGeom>
            <a:solidFill>
              <a:srgbClr val="0077C0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114300" y="-57150"/>
              <a:ext cx="5118256" cy="9772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r>
                <a:rPr lang="en-US" sz="3500">
                  <a:solidFill>
                    <a:srgbClr val="FFFFFF"/>
                  </a:solidFill>
                  <a:latin typeface="Canva Sans" panose="020B0503030501040103"/>
                  <a:ea typeface="Canva Sans" panose="020B0503030501040103"/>
                  <a:cs typeface="Canva Sans" panose="020B0503030501040103"/>
                  <a:sym typeface="Canva Sans" panose="020B0503030501040103"/>
                </a:rPr>
                <a:t>Vulnerable Components</a:t>
              </a:r>
              <a:endParaRPr lang="en-US" sz="35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 rot="0">
            <a:off x="9579708" y="4504648"/>
            <a:ext cx="6497310" cy="848792"/>
            <a:chOff x="0" y="0"/>
            <a:chExt cx="5346856" cy="6985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346856" cy="698500"/>
            </a:xfrm>
            <a:custGeom>
              <a:avLst/>
              <a:gdLst/>
              <a:ahLst/>
              <a:cxnLst/>
              <a:rect l="l" t="t" r="r" b="b"/>
              <a:pathLst>
                <a:path w="5346856" h="698500">
                  <a:moveTo>
                    <a:pt x="5346856" y="349250"/>
                  </a:moveTo>
                  <a:lnTo>
                    <a:pt x="5143656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5143656" y="0"/>
                  </a:lnTo>
                  <a:lnTo>
                    <a:pt x="5346856" y="349250"/>
                  </a:lnTo>
                  <a:close/>
                </a:path>
              </a:pathLst>
            </a:custGeom>
            <a:solidFill>
              <a:srgbClr val="233E8B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114300" y="-38100"/>
              <a:ext cx="5118256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r>
                <a:rPr lang="en-US" sz="2400">
                  <a:solidFill>
                    <a:srgbClr val="FFFFFF"/>
                  </a:solidFill>
                  <a:latin typeface="Canva Sans" panose="020B0503030501040103"/>
                  <a:ea typeface="Canva Sans" panose="020B0503030501040103"/>
                  <a:cs typeface="Canva Sans" panose="020B0503030501040103"/>
                  <a:sym typeface="Canva Sans" panose="020B0503030501040103"/>
                </a:rPr>
                <a:t> Identification &amp; Authentication Failures</a:t>
              </a:r>
              <a:endParaRPr lang="en-US" sz="24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endParaRP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0845091" y="5554037"/>
            <a:ext cx="4504986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0"/>
              </a:lnSpc>
            </a:pPr>
            <a:r>
              <a:rPr lang="en-US" sz="3000" b="1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PHISHING AT</a:t>
            </a:r>
            <a:r>
              <a:rPr lang="en-US" sz="3000" b="1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TACKS</a:t>
            </a:r>
            <a:endParaRPr lang="en-US" sz="3000" b="1">
              <a:solidFill>
                <a:srgbClr val="FFFFFF"/>
              </a:solidFill>
              <a:latin typeface="Telegraf Bold" panose="00000800000000000000"/>
              <a:ea typeface="Telegraf Bold" panose="00000800000000000000"/>
              <a:cs typeface="Telegraf Bold" panose="00000800000000000000"/>
              <a:sym typeface="Telegraf Bold" panose="00000800000000000000"/>
            </a:endParaRPr>
          </a:p>
        </p:txBody>
      </p:sp>
      <p:grpSp>
        <p:nvGrpSpPr>
          <p:cNvPr id="30" name="Group 30"/>
          <p:cNvGrpSpPr/>
          <p:nvPr/>
        </p:nvGrpSpPr>
        <p:grpSpPr>
          <a:xfrm rot="0">
            <a:off x="9579708" y="5342092"/>
            <a:ext cx="6497310" cy="1073218"/>
            <a:chOff x="0" y="0"/>
            <a:chExt cx="5346856" cy="88318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346856" cy="883188"/>
            </a:xfrm>
            <a:custGeom>
              <a:avLst/>
              <a:gdLst/>
              <a:ahLst/>
              <a:cxnLst/>
              <a:rect l="l" t="t" r="r" b="b"/>
              <a:pathLst>
                <a:path w="5346856" h="883188">
                  <a:moveTo>
                    <a:pt x="5346856" y="441594"/>
                  </a:moveTo>
                  <a:lnTo>
                    <a:pt x="5143656" y="883188"/>
                  </a:lnTo>
                  <a:lnTo>
                    <a:pt x="203200" y="883188"/>
                  </a:lnTo>
                  <a:lnTo>
                    <a:pt x="0" y="441594"/>
                  </a:lnTo>
                  <a:lnTo>
                    <a:pt x="203200" y="0"/>
                  </a:lnTo>
                  <a:lnTo>
                    <a:pt x="5143656" y="0"/>
                  </a:lnTo>
                  <a:lnTo>
                    <a:pt x="5346856" y="441594"/>
                  </a:lnTo>
                  <a:close/>
                </a:path>
              </a:pathLst>
            </a:custGeom>
            <a:solidFill>
              <a:srgbClr val="0077C0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114300" y="-47625"/>
              <a:ext cx="5118256" cy="9308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Canva Sans" panose="020B0503030501040103"/>
                  <a:ea typeface="Canva Sans" panose="020B0503030501040103"/>
                  <a:cs typeface="Canva Sans" panose="020B0503030501040103"/>
                  <a:sym typeface="Canva Sans" panose="020B0503030501040103"/>
                </a:rPr>
                <a:t>Software &amp; Data Integrity Failures</a:t>
              </a:r>
              <a:endParaRPr lang="en-US" sz="30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endParaRP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136602" y="6581467"/>
            <a:ext cx="3921965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0"/>
              </a:lnSpc>
            </a:pPr>
            <a:r>
              <a:rPr lang="en-US" sz="3000" b="1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DDOS AT</a:t>
            </a:r>
            <a:r>
              <a:rPr lang="en-US" sz="3000" b="1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TACKS</a:t>
            </a:r>
            <a:endParaRPr lang="en-US" sz="3000" b="1">
              <a:solidFill>
                <a:srgbClr val="FFFFFF"/>
              </a:solidFill>
              <a:latin typeface="Telegraf Bold" panose="00000800000000000000"/>
              <a:ea typeface="Telegraf Bold" panose="00000800000000000000"/>
              <a:cs typeface="Telegraf Bold" panose="00000800000000000000"/>
              <a:sym typeface="Telegraf Bold" panose="00000800000000000000"/>
            </a:endParaRPr>
          </a:p>
        </p:txBody>
      </p:sp>
      <p:grpSp>
        <p:nvGrpSpPr>
          <p:cNvPr id="34" name="Group 34"/>
          <p:cNvGrpSpPr/>
          <p:nvPr/>
        </p:nvGrpSpPr>
        <p:grpSpPr>
          <a:xfrm rot="0">
            <a:off x="9579708" y="6415310"/>
            <a:ext cx="6497310" cy="848792"/>
            <a:chOff x="0" y="0"/>
            <a:chExt cx="5346856" cy="6985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346856" cy="698500"/>
            </a:xfrm>
            <a:custGeom>
              <a:avLst/>
              <a:gdLst/>
              <a:ahLst/>
              <a:cxnLst/>
              <a:rect l="l" t="t" r="r" b="b"/>
              <a:pathLst>
                <a:path w="5346856" h="698500">
                  <a:moveTo>
                    <a:pt x="5346856" y="349250"/>
                  </a:moveTo>
                  <a:lnTo>
                    <a:pt x="5143656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5143656" y="0"/>
                  </a:lnTo>
                  <a:lnTo>
                    <a:pt x="5346856" y="349250"/>
                  </a:lnTo>
                  <a:close/>
                </a:path>
              </a:pathLst>
            </a:custGeom>
            <a:solidFill>
              <a:srgbClr val="233E8B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114300" y="-47625"/>
              <a:ext cx="5118256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Canva Sans" panose="020B0503030501040103"/>
                  <a:ea typeface="Canva Sans" panose="020B0503030501040103"/>
                  <a:cs typeface="Canva Sans" panose="020B0503030501040103"/>
                  <a:sym typeface="Canva Sans" panose="020B0503030501040103"/>
                </a:rPr>
                <a:t>Logging &amp; Monitoring Failures</a:t>
              </a:r>
              <a:endParaRPr lang="en-US" sz="30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endParaRPr>
            </a:p>
          </p:txBody>
        </p:sp>
      </p:grpSp>
      <p:sp>
        <p:nvSpPr>
          <p:cNvPr id="37" name="Freeform 37"/>
          <p:cNvSpPr/>
          <p:nvPr/>
        </p:nvSpPr>
        <p:spPr>
          <a:xfrm>
            <a:off x="3131494" y="3357375"/>
            <a:ext cx="4749559" cy="4749559"/>
          </a:xfrm>
          <a:custGeom>
            <a:avLst/>
            <a:gdLst/>
            <a:ahLst/>
            <a:cxnLst/>
            <a:rect l="l" t="t" r="r" b="b"/>
            <a:pathLst>
              <a:path w="4749559" h="4749559">
                <a:moveTo>
                  <a:pt x="0" y="0"/>
                </a:moveTo>
                <a:lnTo>
                  <a:pt x="4749559" y="0"/>
                </a:lnTo>
                <a:lnTo>
                  <a:pt x="4749559" y="4749559"/>
                </a:lnTo>
                <a:lnTo>
                  <a:pt x="0" y="47495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14884521" y="2129869"/>
            <a:ext cx="4749559" cy="4749559"/>
          </a:xfrm>
          <a:custGeom>
            <a:avLst/>
            <a:gdLst/>
            <a:ahLst/>
            <a:cxnLst/>
            <a:rect l="l" t="t" r="r" b="b"/>
            <a:pathLst>
              <a:path w="4749559" h="4749559">
                <a:moveTo>
                  <a:pt x="0" y="0"/>
                </a:moveTo>
                <a:lnTo>
                  <a:pt x="4749558" y="0"/>
                </a:lnTo>
                <a:lnTo>
                  <a:pt x="4749558" y="4749558"/>
                </a:lnTo>
                <a:lnTo>
                  <a:pt x="0" y="47495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39" name="Group 39"/>
          <p:cNvGrpSpPr/>
          <p:nvPr/>
        </p:nvGrpSpPr>
        <p:grpSpPr>
          <a:xfrm rot="0">
            <a:off x="637269" y="3476819"/>
            <a:ext cx="6497310" cy="1002163"/>
            <a:chOff x="0" y="0"/>
            <a:chExt cx="5346856" cy="824713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346856" cy="824713"/>
            </a:xfrm>
            <a:custGeom>
              <a:avLst/>
              <a:gdLst/>
              <a:ahLst/>
              <a:cxnLst/>
              <a:rect l="l" t="t" r="r" b="b"/>
              <a:pathLst>
                <a:path w="5346856" h="824713">
                  <a:moveTo>
                    <a:pt x="5346856" y="412357"/>
                  </a:moveTo>
                  <a:lnTo>
                    <a:pt x="5143656" y="824713"/>
                  </a:lnTo>
                  <a:lnTo>
                    <a:pt x="203200" y="824713"/>
                  </a:lnTo>
                  <a:lnTo>
                    <a:pt x="0" y="412357"/>
                  </a:lnTo>
                  <a:lnTo>
                    <a:pt x="203200" y="0"/>
                  </a:lnTo>
                  <a:lnTo>
                    <a:pt x="5143656" y="0"/>
                  </a:lnTo>
                  <a:lnTo>
                    <a:pt x="5346856" y="412357"/>
                  </a:lnTo>
                  <a:close/>
                </a:path>
              </a:pathLst>
            </a:custGeom>
            <a:solidFill>
              <a:srgbClr val="0077C0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114300" y="-57150"/>
              <a:ext cx="5118256" cy="8818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r>
                <a:rPr lang="en-US" sz="3500">
                  <a:solidFill>
                    <a:srgbClr val="FFFFFF"/>
                  </a:solidFill>
                  <a:latin typeface="Canva Sans" panose="020B0503030501040103"/>
                  <a:ea typeface="Canva Sans" panose="020B0503030501040103"/>
                  <a:cs typeface="Canva Sans" panose="020B0503030501040103"/>
                  <a:sym typeface="Canva Sans" panose="020B0503030501040103"/>
                </a:rPr>
                <a:t> Broken Access Control</a:t>
              </a:r>
              <a:endParaRPr lang="en-US" sz="35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 rot="0">
            <a:off x="637269" y="4504648"/>
            <a:ext cx="6497310" cy="848792"/>
            <a:chOff x="0" y="0"/>
            <a:chExt cx="5346856" cy="6985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5346856" cy="698500"/>
            </a:xfrm>
            <a:custGeom>
              <a:avLst/>
              <a:gdLst/>
              <a:ahLst/>
              <a:cxnLst/>
              <a:rect l="l" t="t" r="r" b="b"/>
              <a:pathLst>
                <a:path w="5346856" h="698500">
                  <a:moveTo>
                    <a:pt x="5346856" y="349250"/>
                  </a:moveTo>
                  <a:lnTo>
                    <a:pt x="5143656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5143656" y="0"/>
                  </a:lnTo>
                  <a:lnTo>
                    <a:pt x="5346856" y="349250"/>
                  </a:lnTo>
                  <a:close/>
                </a:path>
              </a:pathLst>
            </a:custGeom>
            <a:solidFill>
              <a:srgbClr val="233E8B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114300" y="-57150"/>
              <a:ext cx="5118256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r>
                <a:rPr lang="en-US" sz="3500">
                  <a:solidFill>
                    <a:srgbClr val="FFFFFF"/>
                  </a:solidFill>
                  <a:latin typeface="Canva Sans" panose="020B0503030501040103"/>
                  <a:ea typeface="Canva Sans" panose="020B0503030501040103"/>
                  <a:cs typeface="Canva Sans" panose="020B0503030501040103"/>
                  <a:sym typeface="Canva Sans" panose="020B0503030501040103"/>
                </a:rPr>
                <a:t>Cryptographic Failures</a:t>
              </a:r>
              <a:endParaRPr lang="en-US" sz="35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endParaRPr>
            </a:p>
          </p:txBody>
        </p:sp>
      </p:grpSp>
      <p:grpSp>
        <p:nvGrpSpPr>
          <p:cNvPr id="45" name="Group 45"/>
          <p:cNvGrpSpPr/>
          <p:nvPr/>
        </p:nvGrpSpPr>
        <p:grpSpPr>
          <a:xfrm rot="0">
            <a:off x="637269" y="5342092"/>
            <a:ext cx="6497310" cy="1118014"/>
            <a:chOff x="0" y="0"/>
            <a:chExt cx="5346856" cy="920051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5346856" cy="920051"/>
            </a:xfrm>
            <a:custGeom>
              <a:avLst/>
              <a:gdLst/>
              <a:ahLst/>
              <a:cxnLst/>
              <a:rect l="l" t="t" r="r" b="b"/>
              <a:pathLst>
                <a:path w="5346856" h="920051">
                  <a:moveTo>
                    <a:pt x="5346856" y="460026"/>
                  </a:moveTo>
                  <a:lnTo>
                    <a:pt x="5143656" y="920051"/>
                  </a:lnTo>
                  <a:lnTo>
                    <a:pt x="203200" y="920051"/>
                  </a:lnTo>
                  <a:lnTo>
                    <a:pt x="0" y="460026"/>
                  </a:lnTo>
                  <a:lnTo>
                    <a:pt x="203200" y="0"/>
                  </a:lnTo>
                  <a:lnTo>
                    <a:pt x="5143656" y="0"/>
                  </a:lnTo>
                  <a:lnTo>
                    <a:pt x="5346856" y="460026"/>
                  </a:lnTo>
                  <a:close/>
                </a:path>
              </a:pathLst>
            </a:custGeom>
            <a:solidFill>
              <a:srgbClr val="0077C0"/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114300" y="-57150"/>
              <a:ext cx="5118256" cy="9772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r>
                <a:rPr lang="en-US" sz="3500">
                  <a:solidFill>
                    <a:srgbClr val="FFFFFF"/>
                  </a:solidFill>
                  <a:latin typeface="Canva Sans" panose="020B0503030501040103"/>
                  <a:ea typeface="Canva Sans" panose="020B0503030501040103"/>
                  <a:cs typeface="Canva Sans" panose="020B0503030501040103"/>
                  <a:sym typeface="Canva Sans" panose="020B0503030501040103"/>
                </a:rPr>
                <a:t>Injection</a:t>
              </a:r>
              <a:endParaRPr lang="en-US" sz="35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endParaRPr>
            </a:p>
          </p:txBody>
        </p:sp>
      </p:grpSp>
      <p:grpSp>
        <p:nvGrpSpPr>
          <p:cNvPr id="48" name="Group 48"/>
          <p:cNvGrpSpPr/>
          <p:nvPr/>
        </p:nvGrpSpPr>
        <p:grpSpPr>
          <a:xfrm rot="0">
            <a:off x="637269" y="6455031"/>
            <a:ext cx="6497310" cy="848792"/>
            <a:chOff x="0" y="0"/>
            <a:chExt cx="5346856" cy="6985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5346856" cy="698500"/>
            </a:xfrm>
            <a:custGeom>
              <a:avLst/>
              <a:gdLst/>
              <a:ahLst/>
              <a:cxnLst/>
              <a:rect l="l" t="t" r="r" b="b"/>
              <a:pathLst>
                <a:path w="5346856" h="698500">
                  <a:moveTo>
                    <a:pt x="5346856" y="349250"/>
                  </a:moveTo>
                  <a:lnTo>
                    <a:pt x="5143656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5143656" y="0"/>
                  </a:lnTo>
                  <a:lnTo>
                    <a:pt x="5346856" y="349250"/>
                  </a:lnTo>
                  <a:close/>
                </a:path>
              </a:pathLst>
            </a:custGeom>
            <a:solidFill>
              <a:srgbClr val="233E8B"/>
            </a:solidFill>
          </p:spPr>
        </p:sp>
        <p:sp>
          <p:nvSpPr>
            <p:cNvPr id="50" name="TextBox 50"/>
            <p:cNvSpPr txBox="1"/>
            <p:nvPr/>
          </p:nvSpPr>
          <p:spPr>
            <a:xfrm>
              <a:off x="114300" y="-57150"/>
              <a:ext cx="5118256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r>
                <a:rPr lang="en-US" sz="3500">
                  <a:solidFill>
                    <a:srgbClr val="FFFFFF"/>
                  </a:solidFill>
                  <a:latin typeface="Canva Sans" panose="020B0503030501040103"/>
                  <a:ea typeface="Canva Sans" panose="020B0503030501040103"/>
                  <a:cs typeface="Canva Sans" panose="020B0503030501040103"/>
                  <a:sym typeface="Canva Sans" panose="020B0503030501040103"/>
                </a:rPr>
                <a:t> Insecure Design</a:t>
              </a:r>
              <a:endParaRPr lang="en-US" sz="35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endParaRPr>
            </a:p>
          </p:txBody>
        </p:sp>
      </p:grpSp>
      <p:grpSp>
        <p:nvGrpSpPr>
          <p:cNvPr id="51" name="Group 51"/>
          <p:cNvGrpSpPr/>
          <p:nvPr/>
        </p:nvGrpSpPr>
        <p:grpSpPr>
          <a:xfrm rot="0">
            <a:off x="637269" y="7228008"/>
            <a:ext cx="6497310" cy="1118014"/>
            <a:chOff x="0" y="0"/>
            <a:chExt cx="5346856" cy="920051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5346856" cy="920051"/>
            </a:xfrm>
            <a:custGeom>
              <a:avLst/>
              <a:gdLst/>
              <a:ahLst/>
              <a:cxnLst/>
              <a:rect l="l" t="t" r="r" b="b"/>
              <a:pathLst>
                <a:path w="5346856" h="920051">
                  <a:moveTo>
                    <a:pt x="5346856" y="460026"/>
                  </a:moveTo>
                  <a:lnTo>
                    <a:pt x="5143656" y="920051"/>
                  </a:lnTo>
                  <a:lnTo>
                    <a:pt x="203200" y="920051"/>
                  </a:lnTo>
                  <a:lnTo>
                    <a:pt x="0" y="460026"/>
                  </a:lnTo>
                  <a:lnTo>
                    <a:pt x="203200" y="0"/>
                  </a:lnTo>
                  <a:lnTo>
                    <a:pt x="5143656" y="0"/>
                  </a:lnTo>
                  <a:lnTo>
                    <a:pt x="5346856" y="460026"/>
                  </a:lnTo>
                  <a:close/>
                </a:path>
              </a:pathLst>
            </a:custGeom>
            <a:solidFill>
              <a:srgbClr val="0077C0"/>
            </a:solidFill>
          </p:spPr>
        </p:sp>
        <p:sp>
          <p:nvSpPr>
            <p:cNvPr id="53" name="TextBox 53"/>
            <p:cNvSpPr txBox="1"/>
            <p:nvPr/>
          </p:nvSpPr>
          <p:spPr>
            <a:xfrm>
              <a:off x="114300" y="-57150"/>
              <a:ext cx="5118256" cy="9772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r>
                <a:rPr lang="en-US" sz="3500">
                  <a:solidFill>
                    <a:srgbClr val="FFFFFF"/>
                  </a:solidFill>
                  <a:latin typeface="Canva Sans" panose="020B0503030501040103"/>
                  <a:ea typeface="Canva Sans" panose="020B0503030501040103"/>
                  <a:cs typeface="Canva Sans" panose="020B0503030501040103"/>
                  <a:sym typeface="Canva Sans" panose="020B0503030501040103"/>
                </a:rPr>
                <a:t> Security Misconfiguration</a:t>
              </a:r>
              <a:endParaRPr lang="en-US" sz="35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endParaRPr>
            </a:p>
          </p:txBody>
        </p:sp>
      </p:grpSp>
      <p:grpSp>
        <p:nvGrpSpPr>
          <p:cNvPr id="54" name="Group 54"/>
          <p:cNvGrpSpPr/>
          <p:nvPr/>
        </p:nvGrpSpPr>
        <p:grpSpPr>
          <a:xfrm rot="0">
            <a:off x="9579708" y="7264102"/>
            <a:ext cx="6497310" cy="1186563"/>
            <a:chOff x="0" y="0"/>
            <a:chExt cx="5346856" cy="976463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5346856" cy="976463"/>
            </a:xfrm>
            <a:custGeom>
              <a:avLst/>
              <a:gdLst/>
              <a:ahLst/>
              <a:cxnLst/>
              <a:rect l="l" t="t" r="r" b="b"/>
              <a:pathLst>
                <a:path w="5346856" h="976463">
                  <a:moveTo>
                    <a:pt x="5346856" y="488232"/>
                  </a:moveTo>
                  <a:lnTo>
                    <a:pt x="5143656" y="976463"/>
                  </a:lnTo>
                  <a:lnTo>
                    <a:pt x="203200" y="976463"/>
                  </a:lnTo>
                  <a:lnTo>
                    <a:pt x="0" y="488232"/>
                  </a:lnTo>
                  <a:lnTo>
                    <a:pt x="203200" y="0"/>
                  </a:lnTo>
                  <a:lnTo>
                    <a:pt x="5143656" y="0"/>
                  </a:lnTo>
                  <a:lnTo>
                    <a:pt x="5346856" y="488232"/>
                  </a:lnTo>
                  <a:close/>
                </a:path>
              </a:pathLst>
            </a:custGeom>
            <a:solidFill>
              <a:srgbClr val="0077C0"/>
            </a:solidFill>
          </p:spPr>
        </p:sp>
        <p:sp>
          <p:nvSpPr>
            <p:cNvPr id="56" name="TextBox 56"/>
            <p:cNvSpPr txBox="1"/>
            <p:nvPr/>
          </p:nvSpPr>
          <p:spPr>
            <a:xfrm>
              <a:off x="114300" y="-57150"/>
              <a:ext cx="5118256" cy="10336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Canva Sans" panose="020B0503030501040103"/>
                  <a:ea typeface="Canva Sans" panose="020B0503030501040103"/>
                  <a:cs typeface="Canva Sans" panose="020B0503030501040103"/>
                  <a:sym typeface="Canva Sans" panose="020B0503030501040103"/>
                </a:rPr>
                <a:t>SSRF( Server-Side Request Forgery)</a:t>
              </a:r>
              <a:endParaRPr lang="en-US" sz="28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endParaRPr>
            </a:p>
            <a:p>
              <a:pPr algn="ctr">
                <a:lnSpc>
                  <a:spcPts val="3920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112C">
                <a:alpha val="100000"/>
              </a:srgbClr>
            </a:gs>
            <a:gs pos="100000">
              <a:srgbClr val="17307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3611106">
            <a:off x="-3088883" y="-6052544"/>
            <a:ext cx="3498610" cy="17374172"/>
            <a:chOff x="0" y="0"/>
            <a:chExt cx="921445" cy="457591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1445" cy="4575913"/>
            </a:xfrm>
            <a:custGeom>
              <a:avLst/>
              <a:gdLst/>
              <a:ahLst/>
              <a:cxnLst/>
              <a:rect l="l" t="t" r="r" b="b"/>
              <a:pathLst>
                <a:path w="921445" h="4575913">
                  <a:moveTo>
                    <a:pt x="0" y="0"/>
                  </a:moveTo>
                  <a:lnTo>
                    <a:pt x="921445" y="0"/>
                  </a:lnTo>
                  <a:lnTo>
                    <a:pt x="921445" y="4575913"/>
                  </a:lnTo>
                  <a:lnTo>
                    <a:pt x="0" y="4575913"/>
                  </a:lnTo>
                  <a:close/>
                </a:path>
              </a:pathLst>
            </a:custGeom>
            <a:gradFill rotWithShape="1">
              <a:gsLst>
                <a:gs pos="0">
                  <a:srgbClr val="1B8AC2">
                    <a:alpha val="100000"/>
                  </a:srgbClr>
                </a:gs>
                <a:gs pos="100000">
                  <a:srgbClr val="003875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21445" cy="46140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3611106">
            <a:off x="-33331" y="-10046971"/>
            <a:ext cx="2124063" cy="24199806"/>
            <a:chOff x="0" y="0"/>
            <a:chExt cx="559424" cy="637361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59424" cy="6373612"/>
            </a:xfrm>
            <a:custGeom>
              <a:avLst/>
              <a:gdLst/>
              <a:ahLst/>
              <a:cxnLst/>
              <a:rect l="l" t="t" r="r" b="b"/>
              <a:pathLst>
                <a:path w="559424" h="6373612">
                  <a:moveTo>
                    <a:pt x="0" y="0"/>
                  </a:moveTo>
                  <a:lnTo>
                    <a:pt x="559424" y="0"/>
                  </a:lnTo>
                  <a:lnTo>
                    <a:pt x="559424" y="6373612"/>
                  </a:lnTo>
                  <a:lnTo>
                    <a:pt x="0" y="6373612"/>
                  </a:lnTo>
                  <a:close/>
                </a:path>
              </a:pathLst>
            </a:custGeom>
            <a:gradFill rotWithShape="1">
              <a:gsLst>
                <a:gs pos="0">
                  <a:srgbClr val="003875">
                    <a:alpha val="100000"/>
                  </a:srgbClr>
                </a:gs>
                <a:gs pos="100000">
                  <a:srgbClr val="1B8AC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59424" cy="64117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3611106">
            <a:off x="5924794" y="-3937070"/>
            <a:ext cx="1028816" cy="7921600"/>
            <a:chOff x="0" y="0"/>
            <a:chExt cx="270964" cy="208634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0964" cy="2086347"/>
            </a:xfrm>
            <a:custGeom>
              <a:avLst/>
              <a:gdLst/>
              <a:ahLst/>
              <a:cxnLst/>
              <a:rect l="l" t="t" r="r" b="b"/>
              <a:pathLst>
                <a:path w="270964" h="2086347">
                  <a:moveTo>
                    <a:pt x="0" y="0"/>
                  </a:moveTo>
                  <a:lnTo>
                    <a:pt x="270964" y="0"/>
                  </a:lnTo>
                  <a:lnTo>
                    <a:pt x="270964" y="2086347"/>
                  </a:lnTo>
                  <a:lnTo>
                    <a:pt x="0" y="2086347"/>
                  </a:lnTo>
                  <a:close/>
                </a:path>
              </a:pathLst>
            </a:custGeom>
            <a:gradFill rotWithShape="1">
              <a:gsLst>
                <a:gs pos="0">
                  <a:srgbClr val="3199CE">
                    <a:alpha val="100000"/>
                  </a:srgbClr>
                </a:gs>
                <a:gs pos="50000">
                  <a:srgbClr val="3199CE">
                    <a:alpha val="71000"/>
                  </a:srgbClr>
                </a:gs>
                <a:gs pos="100000">
                  <a:srgbClr val="3199CE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70964" cy="21244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1" name="Freeform 11"/>
          <p:cNvSpPr/>
          <p:nvPr/>
        </p:nvSpPr>
        <p:spPr>
          <a:xfrm>
            <a:off x="4263962" y="2052932"/>
            <a:ext cx="5534900" cy="5534900"/>
          </a:xfrm>
          <a:custGeom>
            <a:avLst/>
            <a:gdLst/>
            <a:ahLst/>
            <a:cxnLst/>
            <a:rect l="l" t="t" r="r" b="b"/>
            <a:pathLst>
              <a:path w="5534900" h="5534900">
                <a:moveTo>
                  <a:pt x="0" y="0"/>
                </a:moveTo>
                <a:lnTo>
                  <a:pt x="5534899" y="0"/>
                </a:lnTo>
                <a:lnTo>
                  <a:pt x="5534899" y="5534900"/>
                </a:lnTo>
                <a:lnTo>
                  <a:pt x="0" y="55349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41980" y="1028700"/>
            <a:ext cx="6225425" cy="7193243"/>
          </a:xfrm>
          <a:custGeom>
            <a:avLst/>
            <a:gdLst/>
            <a:ahLst/>
            <a:cxnLst/>
            <a:rect l="l" t="t" r="r" b="b"/>
            <a:pathLst>
              <a:path w="6225425" h="7193243">
                <a:moveTo>
                  <a:pt x="0" y="0"/>
                </a:moveTo>
                <a:lnTo>
                  <a:pt x="6225425" y="0"/>
                </a:lnTo>
                <a:lnTo>
                  <a:pt x="6225425" y="7193243"/>
                </a:lnTo>
                <a:lnTo>
                  <a:pt x="0" y="71932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 rot="0">
            <a:off x="1103924" y="1308063"/>
            <a:ext cx="5701538" cy="6634517"/>
            <a:chOff x="0" y="0"/>
            <a:chExt cx="6985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5"/>
              <a:stretch>
                <a:fillRect t="-14453" b="-14453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 rot="-3612000">
            <a:off x="5743431" y="736126"/>
            <a:ext cx="2124063" cy="24199806"/>
            <a:chOff x="0" y="0"/>
            <a:chExt cx="559424" cy="637361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59424" cy="6373612"/>
            </a:xfrm>
            <a:custGeom>
              <a:avLst/>
              <a:gdLst/>
              <a:ahLst/>
              <a:cxnLst/>
              <a:rect l="l" t="t" r="r" b="b"/>
              <a:pathLst>
                <a:path w="559424" h="6373612">
                  <a:moveTo>
                    <a:pt x="0" y="0"/>
                  </a:moveTo>
                  <a:lnTo>
                    <a:pt x="559424" y="0"/>
                  </a:lnTo>
                  <a:lnTo>
                    <a:pt x="559424" y="6373612"/>
                  </a:lnTo>
                  <a:lnTo>
                    <a:pt x="0" y="6373612"/>
                  </a:lnTo>
                  <a:close/>
                </a:path>
              </a:pathLst>
            </a:custGeom>
            <a:gradFill rotWithShape="1">
              <a:gsLst>
                <a:gs pos="0">
                  <a:srgbClr val="1B8AC2">
                    <a:alpha val="100000"/>
                  </a:srgbClr>
                </a:gs>
                <a:gs pos="100000">
                  <a:srgbClr val="003875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559424" cy="64117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8" name="Group 18"/>
          <p:cNvGrpSpPr/>
          <p:nvPr/>
        </p:nvGrpSpPr>
        <p:grpSpPr>
          <a:xfrm rot="-3612000">
            <a:off x="-693278" y="4941622"/>
            <a:ext cx="2124063" cy="11016594"/>
            <a:chOff x="0" y="0"/>
            <a:chExt cx="559424" cy="290149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59424" cy="2901490"/>
            </a:xfrm>
            <a:custGeom>
              <a:avLst/>
              <a:gdLst/>
              <a:ahLst/>
              <a:cxnLst/>
              <a:rect l="l" t="t" r="r" b="b"/>
              <a:pathLst>
                <a:path w="559424" h="2901490">
                  <a:moveTo>
                    <a:pt x="0" y="0"/>
                  </a:moveTo>
                  <a:lnTo>
                    <a:pt x="559424" y="0"/>
                  </a:lnTo>
                  <a:lnTo>
                    <a:pt x="559424" y="2901490"/>
                  </a:lnTo>
                  <a:lnTo>
                    <a:pt x="0" y="2901490"/>
                  </a:lnTo>
                  <a:close/>
                </a:path>
              </a:pathLst>
            </a:custGeom>
            <a:gradFill rotWithShape="1">
              <a:gsLst>
                <a:gs pos="0">
                  <a:srgbClr val="003875">
                    <a:alpha val="100000"/>
                  </a:srgbClr>
                </a:gs>
                <a:gs pos="100000">
                  <a:srgbClr val="1B8AC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559424" cy="29395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1" name="Group 21"/>
          <p:cNvGrpSpPr/>
          <p:nvPr/>
        </p:nvGrpSpPr>
        <p:grpSpPr>
          <a:xfrm rot="-3612000">
            <a:off x="3288988" y="7156584"/>
            <a:ext cx="850040" cy="5702196"/>
            <a:chOff x="0" y="0"/>
            <a:chExt cx="223879" cy="150181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23879" cy="1501813"/>
            </a:xfrm>
            <a:custGeom>
              <a:avLst/>
              <a:gdLst/>
              <a:ahLst/>
              <a:cxnLst/>
              <a:rect l="l" t="t" r="r" b="b"/>
              <a:pathLst>
                <a:path w="223879" h="1501813">
                  <a:moveTo>
                    <a:pt x="0" y="0"/>
                  </a:moveTo>
                  <a:lnTo>
                    <a:pt x="223879" y="0"/>
                  </a:lnTo>
                  <a:lnTo>
                    <a:pt x="223879" y="1501813"/>
                  </a:lnTo>
                  <a:lnTo>
                    <a:pt x="0" y="1501813"/>
                  </a:lnTo>
                  <a:close/>
                </a:path>
              </a:pathLst>
            </a:custGeom>
            <a:gradFill rotWithShape="1">
              <a:gsLst>
                <a:gs pos="0">
                  <a:srgbClr val="3199CE">
                    <a:alpha val="0"/>
                  </a:srgbClr>
                </a:gs>
                <a:gs pos="50000">
                  <a:srgbClr val="3199CE">
                    <a:alpha val="71000"/>
                  </a:srgbClr>
                </a:gs>
                <a:gs pos="100000">
                  <a:srgbClr val="3199C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23879" cy="15399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24" name="Freeform 24"/>
          <p:cNvSpPr/>
          <p:nvPr/>
        </p:nvSpPr>
        <p:spPr>
          <a:xfrm>
            <a:off x="13084889" y="9258300"/>
            <a:ext cx="7588781" cy="1994845"/>
          </a:xfrm>
          <a:custGeom>
            <a:avLst/>
            <a:gdLst/>
            <a:ahLst/>
            <a:cxnLst/>
            <a:rect l="l" t="t" r="r" b="b"/>
            <a:pathLst>
              <a:path w="7588781" h="1994845">
                <a:moveTo>
                  <a:pt x="0" y="0"/>
                </a:moveTo>
                <a:lnTo>
                  <a:pt x="7588781" y="0"/>
                </a:lnTo>
                <a:lnTo>
                  <a:pt x="7588781" y="1994845"/>
                </a:lnTo>
                <a:lnTo>
                  <a:pt x="0" y="19948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3400012" y="-997422"/>
            <a:ext cx="7588781" cy="1994845"/>
          </a:xfrm>
          <a:custGeom>
            <a:avLst/>
            <a:gdLst/>
            <a:ahLst/>
            <a:cxnLst/>
            <a:rect l="l" t="t" r="r" b="b"/>
            <a:pathLst>
              <a:path w="7588781" h="1994845">
                <a:moveTo>
                  <a:pt x="0" y="0"/>
                </a:moveTo>
                <a:lnTo>
                  <a:pt x="7588781" y="0"/>
                </a:lnTo>
                <a:lnTo>
                  <a:pt x="7588781" y="1994844"/>
                </a:lnTo>
                <a:lnTo>
                  <a:pt x="0" y="19948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7031411" y="748670"/>
            <a:ext cx="10227889" cy="1838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675"/>
              </a:lnSpc>
            </a:pPr>
            <a:r>
              <a:rPr lang="en-US" sz="7500" b="1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B</a:t>
            </a:r>
            <a:r>
              <a:rPr lang="en-US" sz="7500" b="1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ROKEN ACCESS      CONTROL         </a:t>
            </a:r>
            <a:endParaRPr lang="en-US" sz="7500" b="1">
              <a:solidFill>
                <a:srgbClr val="FFFFFF"/>
              </a:solidFill>
              <a:latin typeface="Telegraf Bold" panose="00000800000000000000"/>
              <a:ea typeface="Telegraf Bold" panose="00000800000000000000"/>
              <a:cs typeface="Telegraf Bold" panose="00000800000000000000"/>
              <a:sym typeface="Telegraf Bold" panose="00000800000000000000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194402" y="3710503"/>
            <a:ext cx="10763231" cy="2720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395"/>
              </a:lnSpc>
            </a:pPr>
            <a:r>
              <a:rPr lang="en-US" sz="3850">
                <a:solidFill>
                  <a:srgbClr val="FFFFFF"/>
                </a:solidFill>
                <a:latin typeface="Telegraf" panose="00000500000000000000"/>
                <a:ea typeface="Telegraf" panose="00000500000000000000"/>
                <a:cs typeface="Telegraf" panose="00000500000000000000"/>
                <a:sym typeface="Telegraf" panose="00000500000000000000"/>
              </a:rPr>
              <a:t>Users gain unauthorized access due to missing authorization checks                                                    . </a:t>
            </a:r>
            <a:r>
              <a:rPr lang="en-US" sz="3850">
                <a:solidFill>
                  <a:srgbClr val="FFFFFF"/>
                </a:solidFill>
                <a:latin typeface="Telegraf" panose="00000500000000000000"/>
                <a:ea typeface="Telegraf" panose="00000500000000000000"/>
                <a:cs typeface="Telegraf" panose="00000500000000000000"/>
                <a:sym typeface="Telegraf" panose="00000500000000000000"/>
              </a:rPr>
              <a:t>Impact:      data theft                                                    .</a:t>
            </a:r>
            <a:endParaRPr lang="en-US" sz="3850">
              <a:solidFill>
                <a:srgbClr val="FFFFFF"/>
              </a:solidFill>
              <a:latin typeface="Telegraf" panose="00000500000000000000"/>
              <a:ea typeface="Telegraf" panose="00000500000000000000"/>
              <a:cs typeface="Telegraf" panose="00000500000000000000"/>
              <a:sym typeface="Telegraf" panose="00000500000000000000"/>
            </a:endParaRPr>
          </a:p>
          <a:p>
            <a:pPr algn="r">
              <a:lnSpc>
                <a:spcPts val="5395"/>
              </a:lnSpc>
              <a:spcBef>
                <a:spcPct val="0"/>
              </a:spcBef>
            </a:pPr>
            <a:r>
              <a:rPr lang="en-US" sz="3850">
                <a:solidFill>
                  <a:srgbClr val="FFFFFF"/>
                </a:solidFill>
                <a:latin typeface="Telegraf" panose="00000500000000000000"/>
                <a:ea typeface="Telegraf" panose="00000500000000000000"/>
                <a:cs typeface="Telegraf" panose="00000500000000000000"/>
                <a:sym typeface="Telegraf" panose="00000500000000000000"/>
              </a:rPr>
              <a:t>Mitigation: least privilege, server-side checks     .</a:t>
            </a:r>
            <a:endParaRPr lang="en-US" sz="3850">
              <a:solidFill>
                <a:srgbClr val="FFFFFF"/>
              </a:solidFill>
              <a:latin typeface="Telegraf" panose="00000500000000000000"/>
              <a:ea typeface="Telegraf" panose="00000500000000000000"/>
              <a:cs typeface="Telegraf" panose="00000500000000000000"/>
              <a:sym typeface="Telegraf" panose="0000050000000000000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73079">
                <a:alpha val="100000"/>
              </a:srgbClr>
            </a:gs>
            <a:gs pos="100000">
              <a:srgbClr val="07112C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7475681" y="-997422"/>
            <a:ext cx="7588781" cy="1994845"/>
          </a:xfrm>
          <a:custGeom>
            <a:avLst/>
            <a:gdLst/>
            <a:ahLst/>
            <a:cxnLst/>
            <a:rect l="l" t="t" r="r" b="b"/>
            <a:pathLst>
              <a:path w="7588781" h="1994845">
                <a:moveTo>
                  <a:pt x="7588781" y="0"/>
                </a:moveTo>
                <a:lnTo>
                  <a:pt x="0" y="0"/>
                </a:lnTo>
                <a:lnTo>
                  <a:pt x="0" y="1994844"/>
                </a:lnTo>
                <a:lnTo>
                  <a:pt x="7588781" y="1994844"/>
                </a:lnTo>
                <a:lnTo>
                  <a:pt x="7588781" y="0"/>
                </a:lnTo>
                <a:close/>
              </a:path>
            </a:pathLst>
          </a:custGeom>
          <a:blipFill>
            <a:blip r:embed="rId1">
              <a:alphaModFix amt="4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3612000">
            <a:off x="18074046" y="-6052544"/>
            <a:ext cx="3498610" cy="17374172"/>
            <a:chOff x="0" y="0"/>
            <a:chExt cx="921445" cy="457591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21445" cy="4575913"/>
            </a:xfrm>
            <a:custGeom>
              <a:avLst/>
              <a:gdLst/>
              <a:ahLst/>
              <a:cxnLst/>
              <a:rect l="l" t="t" r="r" b="b"/>
              <a:pathLst>
                <a:path w="921445" h="4575913">
                  <a:moveTo>
                    <a:pt x="0" y="0"/>
                  </a:moveTo>
                  <a:lnTo>
                    <a:pt x="921445" y="0"/>
                  </a:lnTo>
                  <a:lnTo>
                    <a:pt x="921445" y="4575913"/>
                  </a:lnTo>
                  <a:lnTo>
                    <a:pt x="0" y="4575913"/>
                  </a:lnTo>
                  <a:close/>
                </a:path>
              </a:pathLst>
            </a:custGeom>
            <a:gradFill rotWithShape="1">
              <a:gsLst>
                <a:gs pos="0">
                  <a:srgbClr val="1B8AC2">
                    <a:alpha val="100000"/>
                  </a:srgbClr>
                </a:gs>
                <a:gs pos="100000">
                  <a:srgbClr val="003875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921445" cy="46140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 rot="-3612000">
            <a:off x="16300398" y="-10046971"/>
            <a:ext cx="2124063" cy="24199806"/>
            <a:chOff x="0" y="0"/>
            <a:chExt cx="559424" cy="637361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59424" cy="6373612"/>
            </a:xfrm>
            <a:custGeom>
              <a:avLst/>
              <a:gdLst/>
              <a:ahLst/>
              <a:cxnLst/>
              <a:rect l="l" t="t" r="r" b="b"/>
              <a:pathLst>
                <a:path w="559424" h="6373612">
                  <a:moveTo>
                    <a:pt x="0" y="0"/>
                  </a:moveTo>
                  <a:lnTo>
                    <a:pt x="559424" y="0"/>
                  </a:lnTo>
                  <a:lnTo>
                    <a:pt x="559424" y="6373612"/>
                  </a:lnTo>
                  <a:lnTo>
                    <a:pt x="0" y="6373612"/>
                  </a:lnTo>
                  <a:close/>
                </a:path>
              </a:pathLst>
            </a:custGeom>
            <a:gradFill rotWithShape="1">
              <a:gsLst>
                <a:gs pos="0">
                  <a:srgbClr val="003875">
                    <a:alpha val="100000"/>
                  </a:srgbClr>
                </a:gs>
                <a:gs pos="100000">
                  <a:srgbClr val="1B8AC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59424" cy="64117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9" name="Freeform 9"/>
          <p:cNvSpPr/>
          <p:nvPr/>
        </p:nvSpPr>
        <p:spPr>
          <a:xfrm>
            <a:off x="8502622" y="1824657"/>
            <a:ext cx="5534900" cy="5534900"/>
          </a:xfrm>
          <a:custGeom>
            <a:avLst/>
            <a:gdLst/>
            <a:ahLst/>
            <a:cxnLst/>
            <a:rect l="l" t="t" r="r" b="b"/>
            <a:pathLst>
              <a:path w="5534900" h="5534900">
                <a:moveTo>
                  <a:pt x="0" y="0"/>
                </a:moveTo>
                <a:lnTo>
                  <a:pt x="5534899" y="0"/>
                </a:lnTo>
                <a:lnTo>
                  <a:pt x="5534899" y="5534900"/>
                </a:lnTo>
                <a:lnTo>
                  <a:pt x="0" y="55349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 rot="-3612000">
            <a:off x="11385094" y="-3937070"/>
            <a:ext cx="1028816" cy="7921600"/>
            <a:chOff x="0" y="0"/>
            <a:chExt cx="270964" cy="208634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70964" cy="2086347"/>
            </a:xfrm>
            <a:custGeom>
              <a:avLst/>
              <a:gdLst/>
              <a:ahLst/>
              <a:cxnLst/>
              <a:rect l="l" t="t" r="r" b="b"/>
              <a:pathLst>
                <a:path w="270964" h="2086347">
                  <a:moveTo>
                    <a:pt x="0" y="0"/>
                  </a:moveTo>
                  <a:lnTo>
                    <a:pt x="270964" y="0"/>
                  </a:lnTo>
                  <a:lnTo>
                    <a:pt x="270964" y="2086347"/>
                  </a:lnTo>
                  <a:lnTo>
                    <a:pt x="0" y="2086347"/>
                  </a:lnTo>
                  <a:close/>
                </a:path>
              </a:pathLst>
            </a:custGeom>
            <a:gradFill rotWithShape="1">
              <a:gsLst>
                <a:gs pos="0">
                  <a:srgbClr val="3199CE">
                    <a:alpha val="100000"/>
                  </a:srgbClr>
                </a:gs>
                <a:gs pos="50000">
                  <a:srgbClr val="3199CE">
                    <a:alpha val="71000"/>
                  </a:srgbClr>
                </a:gs>
                <a:gs pos="100000">
                  <a:srgbClr val="3199CE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70964" cy="21244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3" name="Freeform 13"/>
          <p:cNvSpPr/>
          <p:nvPr/>
        </p:nvSpPr>
        <p:spPr>
          <a:xfrm>
            <a:off x="11137004" y="1028700"/>
            <a:ext cx="6225425" cy="7193243"/>
          </a:xfrm>
          <a:custGeom>
            <a:avLst/>
            <a:gdLst/>
            <a:ahLst/>
            <a:cxnLst/>
            <a:rect l="l" t="t" r="r" b="b"/>
            <a:pathLst>
              <a:path w="6225425" h="7193243">
                <a:moveTo>
                  <a:pt x="0" y="0"/>
                </a:moveTo>
                <a:lnTo>
                  <a:pt x="6225425" y="0"/>
                </a:lnTo>
                <a:lnTo>
                  <a:pt x="6225425" y="7193243"/>
                </a:lnTo>
                <a:lnTo>
                  <a:pt x="0" y="71932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 rot="0">
            <a:off x="11398947" y="1308063"/>
            <a:ext cx="5701538" cy="6634517"/>
            <a:chOff x="0" y="0"/>
            <a:chExt cx="6985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7"/>
              <a:stretch>
                <a:fillRect l="-37272" r="-37272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 rot="3611999">
            <a:off x="10602917" y="736126"/>
            <a:ext cx="2124063" cy="24199806"/>
            <a:chOff x="0" y="0"/>
            <a:chExt cx="559424" cy="637361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59424" cy="6373612"/>
            </a:xfrm>
            <a:custGeom>
              <a:avLst/>
              <a:gdLst/>
              <a:ahLst/>
              <a:cxnLst/>
              <a:rect l="l" t="t" r="r" b="b"/>
              <a:pathLst>
                <a:path w="559424" h="6373612">
                  <a:moveTo>
                    <a:pt x="0" y="0"/>
                  </a:moveTo>
                  <a:lnTo>
                    <a:pt x="559424" y="0"/>
                  </a:lnTo>
                  <a:lnTo>
                    <a:pt x="559424" y="6373612"/>
                  </a:lnTo>
                  <a:lnTo>
                    <a:pt x="0" y="6373612"/>
                  </a:lnTo>
                  <a:close/>
                </a:path>
              </a:pathLst>
            </a:custGeom>
            <a:gradFill rotWithShape="1">
              <a:gsLst>
                <a:gs pos="0">
                  <a:srgbClr val="1B8AC2">
                    <a:alpha val="100000"/>
                  </a:srgbClr>
                </a:gs>
                <a:gs pos="100000">
                  <a:srgbClr val="003875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559424" cy="64117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9" name="Group 19"/>
          <p:cNvGrpSpPr/>
          <p:nvPr/>
        </p:nvGrpSpPr>
        <p:grpSpPr>
          <a:xfrm rot="3611999">
            <a:off x="16818786" y="4941622"/>
            <a:ext cx="2124063" cy="11016594"/>
            <a:chOff x="0" y="0"/>
            <a:chExt cx="559424" cy="290149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59424" cy="2901490"/>
            </a:xfrm>
            <a:custGeom>
              <a:avLst/>
              <a:gdLst/>
              <a:ahLst/>
              <a:cxnLst/>
              <a:rect l="l" t="t" r="r" b="b"/>
              <a:pathLst>
                <a:path w="559424" h="2901490">
                  <a:moveTo>
                    <a:pt x="0" y="0"/>
                  </a:moveTo>
                  <a:lnTo>
                    <a:pt x="559424" y="0"/>
                  </a:lnTo>
                  <a:lnTo>
                    <a:pt x="559424" y="2901490"/>
                  </a:lnTo>
                  <a:lnTo>
                    <a:pt x="0" y="2901490"/>
                  </a:lnTo>
                  <a:close/>
                </a:path>
              </a:pathLst>
            </a:custGeom>
            <a:gradFill rotWithShape="1">
              <a:gsLst>
                <a:gs pos="0">
                  <a:srgbClr val="003875">
                    <a:alpha val="100000"/>
                  </a:srgbClr>
                </a:gs>
                <a:gs pos="100000">
                  <a:srgbClr val="1B8AC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559424" cy="29395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2" name="Group 22"/>
          <p:cNvGrpSpPr/>
          <p:nvPr/>
        </p:nvGrpSpPr>
        <p:grpSpPr>
          <a:xfrm rot="3611999">
            <a:off x="14230466" y="7156584"/>
            <a:ext cx="850040" cy="5702196"/>
            <a:chOff x="0" y="0"/>
            <a:chExt cx="223879" cy="150181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23879" cy="1501813"/>
            </a:xfrm>
            <a:custGeom>
              <a:avLst/>
              <a:gdLst/>
              <a:ahLst/>
              <a:cxnLst/>
              <a:rect l="l" t="t" r="r" b="b"/>
              <a:pathLst>
                <a:path w="223879" h="1501813">
                  <a:moveTo>
                    <a:pt x="0" y="0"/>
                  </a:moveTo>
                  <a:lnTo>
                    <a:pt x="223879" y="0"/>
                  </a:lnTo>
                  <a:lnTo>
                    <a:pt x="223879" y="1501813"/>
                  </a:lnTo>
                  <a:lnTo>
                    <a:pt x="0" y="1501813"/>
                  </a:lnTo>
                  <a:close/>
                </a:path>
              </a:pathLst>
            </a:custGeom>
            <a:gradFill rotWithShape="1">
              <a:gsLst>
                <a:gs pos="0">
                  <a:srgbClr val="3199CE">
                    <a:alpha val="0"/>
                  </a:srgbClr>
                </a:gs>
                <a:gs pos="50000">
                  <a:srgbClr val="3199CE">
                    <a:alpha val="71000"/>
                  </a:srgbClr>
                </a:gs>
                <a:gs pos="100000">
                  <a:srgbClr val="3199C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223879" cy="15399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25" name="Freeform 25"/>
          <p:cNvSpPr/>
          <p:nvPr/>
        </p:nvSpPr>
        <p:spPr>
          <a:xfrm flipH="1">
            <a:off x="-2284236" y="9452497"/>
            <a:ext cx="7588781" cy="1994845"/>
          </a:xfrm>
          <a:custGeom>
            <a:avLst/>
            <a:gdLst/>
            <a:ahLst/>
            <a:cxnLst/>
            <a:rect l="l" t="t" r="r" b="b"/>
            <a:pathLst>
              <a:path w="7588781" h="1994845">
                <a:moveTo>
                  <a:pt x="7588781" y="0"/>
                </a:moveTo>
                <a:lnTo>
                  <a:pt x="0" y="0"/>
                </a:lnTo>
                <a:lnTo>
                  <a:pt x="0" y="1994845"/>
                </a:lnTo>
                <a:lnTo>
                  <a:pt x="7588781" y="1994845"/>
                </a:lnTo>
                <a:lnTo>
                  <a:pt x="7588781" y="0"/>
                </a:lnTo>
                <a:close/>
              </a:path>
            </a:pathLst>
          </a:custGeom>
          <a:blipFill>
            <a:blip r:embed="rId1">
              <a:alphaModFix amt="4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028700" y="2296582"/>
            <a:ext cx="8456147" cy="298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7500" b="1" spc="-232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CRYPTOGRAPHIC FAILURES</a:t>
            </a:r>
            <a:endParaRPr lang="en-US" sz="7500" b="1" spc="-232">
              <a:solidFill>
                <a:srgbClr val="FFFFFF"/>
              </a:solidFill>
              <a:latin typeface="Telegraf Bold" panose="00000800000000000000"/>
              <a:ea typeface="Telegraf Bold" panose="00000800000000000000"/>
              <a:cs typeface="Telegraf Bold" panose="00000800000000000000"/>
              <a:sym typeface="Telegraf Bold" panose="00000800000000000000"/>
            </a:endParaRPr>
          </a:p>
          <a:p>
            <a:pPr algn="l">
              <a:lnSpc>
                <a:spcPts val="7500"/>
              </a:lnSpc>
            </a:pPr>
          </a:p>
        </p:txBody>
      </p:sp>
      <p:sp>
        <p:nvSpPr>
          <p:cNvPr id="27" name="TextBox 27"/>
          <p:cNvSpPr txBox="1"/>
          <p:nvPr/>
        </p:nvSpPr>
        <p:spPr>
          <a:xfrm>
            <a:off x="484156" y="5010150"/>
            <a:ext cx="9640777" cy="3422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FFFFFF"/>
                </a:solidFill>
                <a:latin typeface="Telegraf" panose="00000500000000000000"/>
                <a:ea typeface="Telegraf" panose="00000500000000000000"/>
                <a:cs typeface="Telegraf" panose="00000500000000000000"/>
                <a:sym typeface="Telegraf" panose="00000500000000000000"/>
              </a:rPr>
              <a:t>S</a:t>
            </a:r>
            <a:r>
              <a:rPr lang="en-US" sz="4200">
                <a:solidFill>
                  <a:srgbClr val="FFFFFF"/>
                </a:solidFill>
                <a:latin typeface="Telegraf" panose="00000500000000000000"/>
                <a:ea typeface="Telegraf" panose="00000500000000000000"/>
                <a:cs typeface="Telegraf" panose="00000500000000000000"/>
                <a:sym typeface="Telegraf" panose="00000500000000000000"/>
              </a:rPr>
              <a:t>ensitive data exposed through weak encryption or poor key management.</a:t>
            </a:r>
            <a:endParaRPr lang="en-US" sz="4200">
              <a:solidFill>
                <a:srgbClr val="FFFFFF"/>
              </a:solidFill>
              <a:latin typeface="Telegraf" panose="00000500000000000000"/>
              <a:ea typeface="Telegraf" panose="00000500000000000000"/>
              <a:cs typeface="Telegraf" panose="00000500000000000000"/>
              <a:sym typeface="Telegraf" panose="00000500000000000000"/>
            </a:endParaRPr>
          </a:p>
          <a:p>
            <a:pPr algn="l">
              <a:lnSpc>
                <a:spcPts val="5880"/>
              </a:lnSpc>
              <a:spcBef>
                <a:spcPct val="0"/>
              </a:spcBef>
            </a:pPr>
          </a:p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>
                <a:solidFill>
                  <a:srgbClr val="FFFFFF"/>
                </a:solidFill>
                <a:latin typeface="Telegraf" panose="00000500000000000000"/>
                <a:ea typeface="Telegraf" panose="00000500000000000000"/>
                <a:cs typeface="Telegraf" panose="00000500000000000000"/>
                <a:sym typeface="Telegraf" panose="00000500000000000000"/>
              </a:rPr>
              <a:t>Mitigation: HTTPS, strong encryption.</a:t>
            </a:r>
            <a:endParaRPr lang="en-US" sz="4200">
              <a:solidFill>
                <a:srgbClr val="FFFFFF"/>
              </a:solidFill>
              <a:latin typeface="Telegraf" panose="00000500000000000000"/>
              <a:ea typeface="Telegraf" panose="00000500000000000000"/>
              <a:cs typeface="Telegraf" panose="00000500000000000000"/>
              <a:sym typeface="Telegraf" panose="00000500000000000000"/>
            </a:endParaRPr>
          </a:p>
          <a:p>
            <a:pPr algn="l">
              <a:lnSpc>
                <a:spcPts val="32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112C">
                <a:alpha val="100000"/>
              </a:srgbClr>
            </a:gs>
            <a:gs pos="100000">
              <a:srgbClr val="17307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3582119">
            <a:off x="64034" y="-984054"/>
            <a:ext cx="3498610" cy="17374172"/>
            <a:chOff x="0" y="0"/>
            <a:chExt cx="921445" cy="457591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1445" cy="4575913"/>
            </a:xfrm>
            <a:custGeom>
              <a:avLst/>
              <a:gdLst/>
              <a:ahLst/>
              <a:cxnLst/>
              <a:rect l="l" t="t" r="r" b="b"/>
              <a:pathLst>
                <a:path w="921445" h="4575913">
                  <a:moveTo>
                    <a:pt x="0" y="0"/>
                  </a:moveTo>
                  <a:lnTo>
                    <a:pt x="921445" y="0"/>
                  </a:lnTo>
                  <a:lnTo>
                    <a:pt x="921445" y="4575913"/>
                  </a:lnTo>
                  <a:lnTo>
                    <a:pt x="0" y="4575913"/>
                  </a:lnTo>
                  <a:close/>
                </a:path>
              </a:pathLst>
            </a:custGeom>
            <a:gradFill rotWithShape="1">
              <a:gsLst>
                <a:gs pos="0">
                  <a:srgbClr val="1B8AC2">
                    <a:alpha val="100000"/>
                  </a:srgbClr>
                </a:gs>
                <a:gs pos="100000">
                  <a:srgbClr val="003875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21445" cy="46140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-3582119">
            <a:off x="-933048" y="-6160378"/>
            <a:ext cx="2124063" cy="24199806"/>
            <a:chOff x="0" y="0"/>
            <a:chExt cx="559424" cy="637361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59424" cy="6373612"/>
            </a:xfrm>
            <a:custGeom>
              <a:avLst/>
              <a:gdLst/>
              <a:ahLst/>
              <a:cxnLst/>
              <a:rect l="l" t="t" r="r" b="b"/>
              <a:pathLst>
                <a:path w="559424" h="6373612">
                  <a:moveTo>
                    <a:pt x="0" y="0"/>
                  </a:moveTo>
                  <a:lnTo>
                    <a:pt x="559424" y="0"/>
                  </a:lnTo>
                  <a:lnTo>
                    <a:pt x="559424" y="6373612"/>
                  </a:lnTo>
                  <a:lnTo>
                    <a:pt x="0" y="6373612"/>
                  </a:lnTo>
                  <a:close/>
                </a:path>
              </a:pathLst>
            </a:custGeom>
            <a:gradFill rotWithShape="1">
              <a:gsLst>
                <a:gs pos="0">
                  <a:srgbClr val="003875">
                    <a:alpha val="100000"/>
                  </a:srgbClr>
                </a:gs>
                <a:gs pos="100000">
                  <a:srgbClr val="1B8AC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59424" cy="64117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8" name="Group 8"/>
          <p:cNvGrpSpPr/>
          <p:nvPr/>
        </p:nvGrpSpPr>
        <p:grpSpPr>
          <a:xfrm rot="-3582119">
            <a:off x="8629592" y="6184593"/>
            <a:ext cx="1028816" cy="7921600"/>
            <a:chOff x="0" y="0"/>
            <a:chExt cx="270964" cy="208634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0964" cy="2086347"/>
            </a:xfrm>
            <a:custGeom>
              <a:avLst/>
              <a:gdLst/>
              <a:ahLst/>
              <a:cxnLst/>
              <a:rect l="l" t="t" r="r" b="b"/>
              <a:pathLst>
                <a:path w="270964" h="2086347">
                  <a:moveTo>
                    <a:pt x="0" y="0"/>
                  </a:moveTo>
                  <a:lnTo>
                    <a:pt x="270964" y="0"/>
                  </a:lnTo>
                  <a:lnTo>
                    <a:pt x="270964" y="2086347"/>
                  </a:lnTo>
                  <a:lnTo>
                    <a:pt x="0" y="2086347"/>
                  </a:lnTo>
                  <a:close/>
                </a:path>
              </a:pathLst>
            </a:custGeom>
            <a:gradFill rotWithShape="1">
              <a:gsLst>
                <a:gs pos="0">
                  <a:srgbClr val="3199CE">
                    <a:alpha val="0"/>
                  </a:srgbClr>
                </a:gs>
                <a:gs pos="50000">
                  <a:srgbClr val="3199CE">
                    <a:alpha val="71000"/>
                  </a:srgbClr>
                </a:gs>
                <a:gs pos="100000">
                  <a:srgbClr val="3199C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70964" cy="21244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1" name="Group 11"/>
          <p:cNvGrpSpPr/>
          <p:nvPr/>
        </p:nvGrpSpPr>
        <p:grpSpPr>
          <a:xfrm rot="-3582119">
            <a:off x="-856469" y="3765052"/>
            <a:ext cx="1008444" cy="9442484"/>
            <a:chOff x="0" y="0"/>
            <a:chExt cx="265598" cy="248690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65598" cy="2486909"/>
            </a:xfrm>
            <a:custGeom>
              <a:avLst/>
              <a:gdLst/>
              <a:ahLst/>
              <a:cxnLst/>
              <a:rect l="l" t="t" r="r" b="b"/>
              <a:pathLst>
                <a:path w="265598" h="2486909">
                  <a:moveTo>
                    <a:pt x="0" y="0"/>
                  </a:moveTo>
                  <a:lnTo>
                    <a:pt x="265598" y="0"/>
                  </a:lnTo>
                  <a:lnTo>
                    <a:pt x="265598" y="2486909"/>
                  </a:lnTo>
                  <a:lnTo>
                    <a:pt x="0" y="2486909"/>
                  </a:lnTo>
                  <a:close/>
                </a:path>
              </a:pathLst>
            </a:custGeom>
            <a:gradFill rotWithShape="1">
              <a:gsLst>
                <a:gs pos="0">
                  <a:srgbClr val="3199CE">
                    <a:alpha val="100000"/>
                  </a:srgbClr>
                </a:gs>
                <a:gs pos="50000">
                  <a:srgbClr val="3199CE">
                    <a:alpha val="71000"/>
                  </a:srgbClr>
                </a:gs>
                <a:gs pos="100000">
                  <a:srgbClr val="3199CE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65598" cy="25250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4" name="Freeform 14"/>
          <p:cNvSpPr/>
          <p:nvPr/>
        </p:nvSpPr>
        <p:spPr>
          <a:xfrm>
            <a:off x="4263962" y="830979"/>
            <a:ext cx="5534900" cy="5534900"/>
          </a:xfrm>
          <a:custGeom>
            <a:avLst/>
            <a:gdLst/>
            <a:ahLst/>
            <a:cxnLst/>
            <a:rect l="l" t="t" r="r" b="b"/>
            <a:pathLst>
              <a:path w="5534900" h="5534900">
                <a:moveTo>
                  <a:pt x="0" y="0"/>
                </a:moveTo>
                <a:lnTo>
                  <a:pt x="5534899" y="0"/>
                </a:lnTo>
                <a:lnTo>
                  <a:pt x="5534899" y="5534899"/>
                </a:lnTo>
                <a:lnTo>
                  <a:pt x="0" y="55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645101" y="2114846"/>
            <a:ext cx="6666826" cy="7703266"/>
          </a:xfrm>
          <a:custGeom>
            <a:avLst/>
            <a:gdLst/>
            <a:ahLst/>
            <a:cxnLst/>
            <a:rect l="l" t="t" r="r" b="b"/>
            <a:pathLst>
              <a:path w="6666826" h="7703266">
                <a:moveTo>
                  <a:pt x="0" y="0"/>
                </a:moveTo>
                <a:lnTo>
                  <a:pt x="6666826" y="0"/>
                </a:lnTo>
                <a:lnTo>
                  <a:pt x="6666826" y="7703265"/>
                </a:lnTo>
                <a:lnTo>
                  <a:pt x="0" y="77032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 rot="0">
            <a:off x="925617" y="2109216"/>
            <a:ext cx="6105794" cy="7104924"/>
            <a:chOff x="0" y="0"/>
            <a:chExt cx="6985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5"/>
              <a:stretch>
                <a:fillRect l="-53281" r="-53281"/>
              </a:stretch>
            </a:blipFill>
          </p:spPr>
        </p:sp>
      </p:grpSp>
      <p:sp>
        <p:nvSpPr>
          <p:cNvPr id="18" name="Freeform 18"/>
          <p:cNvSpPr/>
          <p:nvPr/>
        </p:nvSpPr>
        <p:spPr>
          <a:xfrm flipH="1">
            <a:off x="13464910" y="9147970"/>
            <a:ext cx="7588781" cy="1994845"/>
          </a:xfrm>
          <a:custGeom>
            <a:avLst/>
            <a:gdLst/>
            <a:ahLst/>
            <a:cxnLst/>
            <a:rect l="l" t="t" r="r" b="b"/>
            <a:pathLst>
              <a:path w="7588781" h="1994845">
                <a:moveTo>
                  <a:pt x="7588780" y="0"/>
                </a:moveTo>
                <a:lnTo>
                  <a:pt x="0" y="0"/>
                </a:lnTo>
                <a:lnTo>
                  <a:pt x="0" y="1994845"/>
                </a:lnTo>
                <a:lnTo>
                  <a:pt x="7588780" y="1994845"/>
                </a:lnTo>
                <a:lnTo>
                  <a:pt x="7588780" y="0"/>
                </a:lnTo>
                <a:close/>
              </a:path>
            </a:pathLst>
          </a:custGeom>
          <a:blipFill>
            <a:blip r:embed="rId6">
              <a:alphaModFix amt="4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-3149289" y="-966145"/>
            <a:ext cx="7588781" cy="1994845"/>
          </a:xfrm>
          <a:custGeom>
            <a:avLst/>
            <a:gdLst/>
            <a:ahLst/>
            <a:cxnLst/>
            <a:rect l="l" t="t" r="r" b="b"/>
            <a:pathLst>
              <a:path w="7588781" h="1994845">
                <a:moveTo>
                  <a:pt x="0" y="0"/>
                </a:moveTo>
                <a:lnTo>
                  <a:pt x="7588780" y="0"/>
                </a:lnTo>
                <a:lnTo>
                  <a:pt x="7588780" y="1994845"/>
                </a:lnTo>
                <a:lnTo>
                  <a:pt x="0" y="19948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8581076" y="1390946"/>
            <a:ext cx="7062897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675"/>
              </a:lnSpc>
            </a:pPr>
            <a:r>
              <a:rPr lang="en-US" sz="7500" b="1" spc="-232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INJE</a:t>
            </a:r>
            <a:r>
              <a:rPr lang="en-US" sz="7500" b="1" spc="-232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CTION</a:t>
            </a:r>
            <a:endParaRPr lang="en-US" sz="7500" b="1" spc="-232">
              <a:solidFill>
                <a:srgbClr val="FFFFFF"/>
              </a:solidFill>
              <a:latin typeface="Telegraf Bold" panose="00000800000000000000"/>
              <a:ea typeface="Telegraf Bold" panose="00000800000000000000"/>
              <a:cs typeface="Telegraf Bold" panose="00000800000000000000"/>
              <a:sym typeface="Telegraf Bold" panose="00000800000000000000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002936" y="4029712"/>
            <a:ext cx="9640777" cy="4529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580"/>
              </a:lnSpc>
              <a:spcBef>
                <a:spcPct val="0"/>
              </a:spcBef>
            </a:pPr>
            <a:r>
              <a:rPr lang="en-US" sz="4700">
                <a:solidFill>
                  <a:srgbClr val="FFFFFF"/>
                </a:solidFill>
                <a:latin typeface="Telegraf" panose="00000500000000000000"/>
                <a:ea typeface="Telegraf" panose="00000500000000000000"/>
                <a:cs typeface="Telegraf" panose="00000500000000000000"/>
                <a:sym typeface="Telegraf" panose="00000500000000000000"/>
              </a:rPr>
              <a:t>Ma</a:t>
            </a:r>
            <a:r>
              <a:rPr lang="en-US" sz="4700">
                <a:solidFill>
                  <a:srgbClr val="FFFFFF"/>
                </a:solidFill>
                <a:latin typeface="Telegraf" panose="00000500000000000000"/>
                <a:ea typeface="Telegraf" panose="00000500000000000000"/>
                <a:cs typeface="Telegraf" panose="00000500000000000000"/>
                <a:sym typeface="Telegraf" panose="00000500000000000000"/>
              </a:rPr>
              <a:t>licious input executed as SQL/commands.</a:t>
            </a:r>
            <a:endParaRPr lang="en-US" sz="4700">
              <a:solidFill>
                <a:srgbClr val="FFFFFF"/>
              </a:solidFill>
              <a:latin typeface="Telegraf" panose="00000500000000000000"/>
              <a:ea typeface="Telegraf" panose="00000500000000000000"/>
              <a:cs typeface="Telegraf" panose="00000500000000000000"/>
              <a:sym typeface="Telegraf" panose="00000500000000000000"/>
            </a:endParaRPr>
          </a:p>
          <a:p>
            <a:pPr algn="r">
              <a:lnSpc>
                <a:spcPts val="6580"/>
              </a:lnSpc>
              <a:spcBef>
                <a:spcPct val="0"/>
              </a:spcBef>
            </a:pPr>
            <a:r>
              <a:rPr lang="en-US" sz="4700">
                <a:solidFill>
                  <a:srgbClr val="FFFFFF"/>
                </a:solidFill>
                <a:latin typeface="Telegraf" panose="00000500000000000000"/>
                <a:ea typeface="Telegraf" panose="00000500000000000000"/>
                <a:cs typeface="Telegraf" panose="00000500000000000000"/>
                <a:sym typeface="Telegraf" panose="00000500000000000000"/>
              </a:rPr>
              <a:t>Mitigation: parameterized queries, input validation.</a:t>
            </a:r>
            <a:endParaRPr lang="en-US" sz="4700">
              <a:solidFill>
                <a:srgbClr val="FFFFFF"/>
              </a:solidFill>
              <a:latin typeface="Telegraf" panose="00000500000000000000"/>
              <a:ea typeface="Telegraf" panose="00000500000000000000"/>
              <a:cs typeface="Telegraf" panose="00000500000000000000"/>
              <a:sym typeface="Telegraf" panose="00000500000000000000"/>
            </a:endParaRPr>
          </a:p>
          <a:p>
            <a:pPr algn="r">
              <a:lnSpc>
                <a:spcPts val="96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112C">
                <a:alpha val="100000"/>
              </a:srgbClr>
            </a:gs>
            <a:gs pos="100000">
              <a:srgbClr val="17307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682865" y="1419495"/>
            <a:ext cx="5534900" cy="5534900"/>
          </a:xfrm>
          <a:custGeom>
            <a:avLst/>
            <a:gdLst/>
            <a:ahLst/>
            <a:cxnLst/>
            <a:rect l="l" t="t" r="r" b="b"/>
            <a:pathLst>
              <a:path w="5534900" h="5534900">
                <a:moveTo>
                  <a:pt x="0" y="0"/>
                </a:moveTo>
                <a:lnTo>
                  <a:pt x="5534899" y="0"/>
                </a:lnTo>
                <a:lnTo>
                  <a:pt x="5534899" y="5534900"/>
                </a:lnTo>
                <a:lnTo>
                  <a:pt x="0" y="5534900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3581999">
            <a:off x="14544206" y="-984054"/>
            <a:ext cx="3498610" cy="17374172"/>
            <a:chOff x="0" y="0"/>
            <a:chExt cx="921445" cy="457591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21445" cy="4575913"/>
            </a:xfrm>
            <a:custGeom>
              <a:avLst/>
              <a:gdLst/>
              <a:ahLst/>
              <a:cxnLst/>
              <a:rect l="l" t="t" r="r" b="b"/>
              <a:pathLst>
                <a:path w="921445" h="4575913">
                  <a:moveTo>
                    <a:pt x="0" y="0"/>
                  </a:moveTo>
                  <a:lnTo>
                    <a:pt x="921445" y="0"/>
                  </a:lnTo>
                  <a:lnTo>
                    <a:pt x="921445" y="4575913"/>
                  </a:lnTo>
                  <a:lnTo>
                    <a:pt x="0" y="4575913"/>
                  </a:lnTo>
                  <a:close/>
                </a:path>
              </a:pathLst>
            </a:custGeom>
            <a:gradFill rotWithShape="1">
              <a:gsLst>
                <a:gs pos="0">
                  <a:srgbClr val="1B8AC2">
                    <a:alpha val="100000"/>
                  </a:srgbClr>
                </a:gs>
                <a:gs pos="100000">
                  <a:srgbClr val="003875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921445" cy="46140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 rot="3581999">
            <a:off x="16788979" y="-6036802"/>
            <a:ext cx="2124063" cy="24199806"/>
            <a:chOff x="0" y="0"/>
            <a:chExt cx="559424" cy="637361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59424" cy="6373612"/>
            </a:xfrm>
            <a:custGeom>
              <a:avLst/>
              <a:gdLst/>
              <a:ahLst/>
              <a:cxnLst/>
              <a:rect l="l" t="t" r="r" b="b"/>
              <a:pathLst>
                <a:path w="559424" h="6373612">
                  <a:moveTo>
                    <a:pt x="0" y="0"/>
                  </a:moveTo>
                  <a:lnTo>
                    <a:pt x="559424" y="0"/>
                  </a:lnTo>
                  <a:lnTo>
                    <a:pt x="559424" y="6373612"/>
                  </a:lnTo>
                  <a:lnTo>
                    <a:pt x="0" y="6373612"/>
                  </a:lnTo>
                  <a:close/>
                </a:path>
              </a:pathLst>
            </a:custGeom>
            <a:gradFill rotWithShape="1">
              <a:gsLst>
                <a:gs pos="0">
                  <a:srgbClr val="003875">
                    <a:alpha val="100000"/>
                  </a:srgbClr>
                </a:gs>
                <a:gs pos="100000">
                  <a:srgbClr val="1B8AC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59424" cy="64117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3581999">
            <a:off x="7534912" y="7786170"/>
            <a:ext cx="1028816" cy="5792590"/>
            <a:chOff x="0" y="0"/>
            <a:chExt cx="270964" cy="15256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0964" cy="1525620"/>
            </a:xfrm>
            <a:custGeom>
              <a:avLst/>
              <a:gdLst/>
              <a:ahLst/>
              <a:cxnLst/>
              <a:rect l="l" t="t" r="r" b="b"/>
              <a:pathLst>
                <a:path w="270964" h="1525620">
                  <a:moveTo>
                    <a:pt x="0" y="0"/>
                  </a:moveTo>
                  <a:lnTo>
                    <a:pt x="270964" y="0"/>
                  </a:lnTo>
                  <a:lnTo>
                    <a:pt x="270964" y="1525620"/>
                  </a:lnTo>
                  <a:lnTo>
                    <a:pt x="0" y="1525620"/>
                  </a:lnTo>
                  <a:close/>
                </a:path>
              </a:pathLst>
            </a:custGeom>
            <a:gradFill rotWithShape="1">
              <a:gsLst>
                <a:gs pos="0">
                  <a:srgbClr val="3199CE">
                    <a:alpha val="0"/>
                  </a:srgbClr>
                </a:gs>
                <a:gs pos="50000">
                  <a:srgbClr val="3199CE">
                    <a:alpha val="71000"/>
                  </a:srgbClr>
                </a:gs>
                <a:gs pos="100000">
                  <a:srgbClr val="3199C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70964" cy="15637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2" name="Group 12"/>
          <p:cNvGrpSpPr/>
          <p:nvPr/>
        </p:nvGrpSpPr>
        <p:grpSpPr>
          <a:xfrm rot="3581999">
            <a:off x="18491437" y="4070062"/>
            <a:ext cx="1008444" cy="8211295"/>
            <a:chOff x="0" y="0"/>
            <a:chExt cx="265598" cy="216264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65598" cy="2162646"/>
            </a:xfrm>
            <a:custGeom>
              <a:avLst/>
              <a:gdLst/>
              <a:ahLst/>
              <a:cxnLst/>
              <a:rect l="l" t="t" r="r" b="b"/>
              <a:pathLst>
                <a:path w="265598" h="2162646">
                  <a:moveTo>
                    <a:pt x="0" y="0"/>
                  </a:moveTo>
                  <a:lnTo>
                    <a:pt x="265598" y="0"/>
                  </a:lnTo>
                  <a:lnTo>
                    <a:pt x="265598" y="2162646"/>
                  </a:lnTo>
                  <a:lnTo>
                    <a:pt x="0" y="2162646"/>
                  </a:lnTo>
                  <a:close/>
                </a:path>
              </a:pathLst>
            </a:custGeom>
            <a:gradFill rotWithShape="1">
              <a:gsLst>
                <a:gs pos="0">
                  <a:srgbClr val="3199CE">
                    <a:alpha val="100000"/>
                  </a:srgbClr>
                </a:gs>
                <a:gs pos="50000">
                  <a:srgbClr val="3199CE">
                    <a:alpha val="71000"/>
                  </a:srgbClr>
                </a:gs>
                <a:gs pos="100000">
                  <a:srgbClr val="3199CE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65598" cy="22007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5" name="Freeform 15"/>
          <p:cNvSpPr/>
          <p:nvPr/>
        </p:nvSpPr>
        <p:spPr>
          <a:xfrm>
            <a:off x="10995034" y="1810046"/>
            <a:ext cx="6666826" cy="7703266"/>
          </a:xfrm>
          <a:custGeom>
            <a:avLst/>
            <a:gdLst/>
            <a:ahLst/>
            <a:cxnLst/>
            <a:rect l="l" t="t" r="r" b="b"/>
            <a:pathLst>
              <a:path w="6666826" h="7703266">
                <a:moveTo>
                  <a:pt x="0" y="0"/>
                </a:moveTo>
                <a:lnTo>
                  <a:pt x="6666826" y="0"/>
                </a:lnTo>
                <a:lnTo>
                  <a:pt x="6666826" y="7703265"/>
                </a:lnTo>
                <a:lnTo>
                  <a:pt x="0" y="77032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 rot="0">
            <a:off x="11275550" y="2109216"/>
            <a:ext cx="6105794" cy="7104924"/>
            <a:chOff x="0" y="0"/>
            <a:chExt cx="6985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5"/>
              <a:stretch>
                <a:fillRect l="-37245" r="-37245"/>
              </a:stretch>
            </a:blipFill>
          </p:spPr>
        </p:sp>
      </p:grpSp>
      <p:sp>
        <p:nvSpPr>
          <p:cNvPr id="18" name="Freeform 18"/>
          <p:cNvSpPr/>
          <p:nvPr/>
        </p:nvSpPr>
        <p:spPr>
          <a:xfrm>
            <a:off x="-2765690" y="9147970"/>
            <a:ext cx="7588781" cy="1994845"/>
          </a:xfrm>
          <a:custGeom>
            <a:avLst/>
            <a:gdLst/>
            <a:ahLst/>
            <a:cxnLst/>
            <a:rect l="l" t="t" r="r" b="b"/>
            <a:pathLst>
              <a:path w="7588781" h="1994845">
                <a:moveTo>
                  <a:pt x="0" y="0"/>
                </a:moveTo>
                <a:lnTo>
                  <a:pt x="7588780" y="0"/>
                </a:lnTo>
                <a:lnTo>
                  <a:pt x="7588780" y="1994845"/>
                </a:lnTo>
                <a:lnTo>
                  <a:pt x="0" y="19948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flipH="1">
            <a:off x="13867470" y="-966145"/>
            <a:ext cx="7588781" cy="1994845"/>
          </a:xfrm>
          <a:custGeom>
            <a:avLst/>
            <a:gdLst/>
            <a:ahLst/>
            <a:cxnLst/>
            <a:rect l="l" t="t" r="r" b="b"/>
            <a:pathLst>
              <a:path w="7588781" h="1994845">
                <a:moveTo>
                  <a:pt x="7588780" y="0"/>
                </a:moveTo>
                <a:lnTo>
                  <a:pt x="0" y="0"/>
                </a:lnTo>
                <a:lnTo>
                  <a:pt x="0" y="1994845"/>
                </a:lnTo>
                <a:lnTo>
                  <a:pt x="7588780" y="1994845"/>
                </a:lnTo>
                <a:lnTo>
                  <a:pt x="7588780" y="0"/>
                </a:lnTo>
                <a:close/>
              </a:path>
            </a:pathLst>
          </a:custGeom>
          <a:blipFill>
            <a:blip r:embed="rId6">
              <a:alphaModFix amt="4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028700" y="828740"/>
            <a:ext cx="8456147" cy="2028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7500" b="1" spc="-232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INS</a:t>
            </a:r>
            <a:r>
              <a:rPr lang="en-US" sz="7500" b="1" spc="-232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ECURE DESIGN</a:t>
            </a:r>
            <a:endParaRPr lang="en-US" sz="7500" b="1" spc="-232">
              <a:solidFill>
                <a:srgbClr val="FFFFFF"/>
              </a:solidFill>
              <a:latin typeface="Telegraf Bold" panose="00000800000000000000"/>
              <a:ea typeface="Telegraf Bold" panose="00000800000000000000"/>
              <a:cs typeface="Telegraf Bold" panose="00000800000000000000"/>
              <a:sym typeface="Telegraf Bold" panose="00000800000000000000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73826" y="4449232"/>
            <a:ext cx="9336797" cy="4503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40"/>
              </a:lnSpc>
              <a:spcBef>
                <a:spcPct val="0"/>
              </a:spcBef>
            </a:pPr>
            <a:r>
              <a:rPr lang="en-US" sz="4600">
                <a:solidFill>
                  <a:srgbClr val="FFFFFF"/>
                </a:solidFill>
                <a:latin typeface="Telegraf" panose="00000500000000000000"/>
                <a:ea typeface="Telegraf" panose="00000500000000000000"/>
                <a:cs typeface="Telegraf" panose="00000500000000000000"/>
                <a:sym typeface="Telegraf" panose="00000500000000000000"/>
              </a:rPr>
              <a:t>S</a:t>
            </a:r>
            <a:r>
              <a:rPr lang="en-US" sz="4600">
                <a:solidFill>
                  <a:srgbClr val="FFFFFF"/>
                </a:solidFill>
                <a:latin typeface="Telegraf" panose="00000500000000000000"/>
                <a:ea typeface="Telegraf" panose="00000500000000000000"/>
                <a:cs typeface="Telegraf" panose="00000500000000000000"/>
                <a:sym typeface="Telegraf" panose="00000500000000000000"/>
              </a:rPr>
              <a:t>ecurity missing at design stage.</a:t>
            </a:r>
            <a:endParaRPr lang="en-US" sz="4600">
              <a:solidFill>
                <a:srgbClr val="FFFFFF"/>
              </a:solidFill>
              <a:latin typeface="Telegraf" panose="00000500000000000000"/>
              <a:ea typeface="Telegraf" panose="00000500000000000000"/>
              <a:cs typeface="Telegraf" panose="00000500000000000000"/>
              <a:sym typeface="Telegraf" panose="00000500000000000000"/>
            </a:endParaRPr>
          </a:p>
          <a:p>
            <a:pPr algn="l">
              <a:lnSpc>
                <a:spcPts val="6440"/>
              </a:lnSpc>
              <a:spcBef>
                <a:spcPct val="0"/>
              </a:spcBef>
            </a:pPr>
          </a:p>
          <a:p>
            <a:pPr algn="l">
              <a:lnSpc>
                <a:spcPts val="6440"/>
              </a:lnSpc>
              <a:spcBef>
                <a:spcPct val="0"/>
              </a:spcBef>
            </a:pPr>
            <a:r>
              <a:rPr lang="en-US" sz="4600">
                <a:solidFill>
                  <a:srgbClr val="FFFFFF"/>
                </a:solidFill>
                <a:latin typeface="Telegraf" panose="00000500000000000000"/>
                <a:ea typeface="Telegraf" panose="00000500000000000000"/>
                <a:cs typeface="Telegraf" panose="00000500000000000000"/>
                <a:sym typeface="Telegraf" panose="00000500000000000000"/>
              </a:rPr>
              <a:t>Mitigation: threat modeling, secure SDLC ( Software Development Life Cycle).</a:t>
            </a:r>
            <a:endParaRPr lang="en-US" sz="4600">
              <a:solidFill>
                <a:srgbClr val="FFFFFF"/>
              </a:solidFill>
              <a:latin typeface="Telegraf" panose="00000500000000000000"/>
              <a:ea typeface="Telegraf" panose="00000500000000000000"/>
              <a:cs typeface="Telegraf" panose="00000500000000000000"/>
              <a:sym typeface="Telegraf" panose="00000500000000000000"/>
            </a:endParaRPr>
          </a:p>
          <a:p>
            <a:pPr algn="l">
              <a:lnSpc>
                <a:spcPts val="32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112C">
                <a:alpha val="100000"/>
              </a:srgbClr>
            </a:gs>
            <a:gs pos="100000">
              <a:srgbClr val="173079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025779" y="2882339"/>
            <a:ext cx="5534900" cy="5534900"/>
          </a:xfrm>
          <a:custGeom>
            <a:avLst/>
            <a:gdLst/>
            <a:ahLst/>
            <a:cxnLst/>
            <a:rect l="l" t="t" r="r" b="b"/>
            <a:pathLst>
              <a:path w="5534900" h="5534900">
                <a:moveTo>
                  <a:pt x="0" y="0"/>
                </a:moveTo>
                <a:lnTo>
                  <a:pt x="5534900" y="0"/>
                </a:lnTo>
                <a:lnTo>
                  <a:pt x="5534900" y="5534899"/>
                </a:lnTo>
                <a:lnTo>
                  <a:pt x="0" y="55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272679" y="2882339"/>
            <a:ext cx="5534900" cy="5534900"/>
          </a:xfrm>
          <a:custGeom>
            <a:avLst/>
            <a:gdLst/>
            <a:ahLst/>
            <a:cxnLst/>
            <a:rect l="l" t="t" r="r" b="b"/>
            <a:pathLst>
              <a:path w="5534900" h="5534900">
                <a:moveTo>
                  <a:pt x="0" y="0"/>
                </a:moveTo>
                <a:lnTo>
                  <a:pt x="5534900" y="0"/>
                </a:lnTo>
                <a:lnTo>
                  <a:pt x="5534900" y="5534899"/>
                </a:lnTo>
                <a:lnTo>
                  <a:pt x="0" y="55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-3582119">
            <a:off x="451534" y="373035"/>
            <a:ext cx="2666123" cy="17374172"/>
            <a:chOff x="0" y="0"/>
            <a:chExt cx="702189" cy="457591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02189" cy="4575913"/>
            </a:xfrm>
            <a:custGeom>
              <a:avLst/>
              <a:gdLst/>
              <a:ahLst/>
              <a:cxnLst/>
              <a:rect l="l" t="t" r="r" b="b"/>
              <a:pathLst>
                <a:path w="702189" h="4575913">
                  <a:moveTo>
                    <a:pt x="0" y="0"/>
                  </a:moveTo>
                  <a:lnTo>
                    <a:pt x="702189" y="0"/>
                  </a:lnTo>
                  <a:lnTo>
                    <a:pt x="702189" y="4575913"/>
                  </a:lnTo>
                  <a:lnTo>
                    <a:pt x="0" y="4575913"/>
                  </a:lnTo>
                  <a:close/>
                </a:path>
              </a:pathLst>
            </a:custGeom>
            <a:gradFill rotWithShape="1">
              <a:gsLst>
                <a:gs pos="0">
                  <a:srgbClr val="1B8AC2">
                    <a:alpha val="100000"/>
                  </a:srgbClr>
                </a:gs>
                <a:gs pos="100000">
                  <a:srgbClr val="003875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702189" cy="46140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7" name="Group 7"/>
          <p:cNvGrpSpPr/>
          <p:nvPr/>
        </p:nvGrpSpPr>
        <p:grpSpPr>
          <a:xfrm rot="3581999">
            <a:off x="15170668" y="373035"/>
            <a:ext cx="2665840" cy="17374172"/>
            <a:chOff x="0" y="0"/>
            <a:chExt cx="702114" cy="457591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02114" cy="4575913"/>
            </a:xfrm>
            <a:custGeom>
              <a:avLst/>
              <a:gdLst/>
              <a:ahLst/>
              <a:cxnLst/>
              <a:rect l="l" t="t" r="r" b="b"/>
              <a:pathLst>
                <a:path w="702114" h="4575913">
                  <a:moveTo>
                    <a:pt x="0" y="0"/>
                  </a:moveTo>
                  <a:lnTo>
                    <a:pt x="702114" y="0"/>
                  </a:lnTo>
                  <a:lnTo>
                    <a:pt x="702114" y="4575913"/>
                  </a:lnTo>
                  <a:lnTo>
                    <a:pt x="0" y="4575913"/>
                  </a:lnTo>
                  <a:close/>
                </a:path>
              </a:pathLst>
            </a:custGeom>
            <a:gradFill rotWithShape="1">
              <a:gsLst>
                <a:gs pos="0">
                  <a:srgbClr val="1B8AC2">
                    <a:alpha val="100000"/>
                  </a:srgbClr>
                </a:gs>
                <a:gs pos="100000">
                  <a:srgbClr val="003875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702114" cy="46140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 rot="-3582119">
            <a:off x="-406670" y="-4728115"/>
            <a:ext cx="1243376" cy="24199806"/>
            <a:chOff x="0" y="0"/>
            <a:chExt cx="327473" cy="637361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27473" cy="6373612"/>
            </a:xfrm>
            <a:custGeom>
              <a:avLst/>
              <a:gdLst/>
              <a:ahLst/>
              <a:cxnLst/>
              <a:rect l="l" t="t" r="r" b="b"/>
              <a:pathLst>
                <a:path w="327473" h="6373612">
                  <a:moveTo>
                    <a:pt x="0" y="0"/>
                  </a:moveTo>
                  <a:lnTo>
                    <a:pt x="327473" y="0"/>
                  </a:lnTo>
                  <a:lnTo>
                    <a:pt x="327473" y="6373612"/>
                  </a:lnTo>
                  <a:lnTo>
                    <a:pt x="0" y="6373612"/>
                  </a:lnTo>
                  <a:close/>
                </a:path>
              </a:pathLst>
            </a:custGeom>
            <a:gradFill rotWithShape="1">
              <a:gsLst>
                <a:gs pos="0">
                  <a:srgbClr val="003875">
                    <a:alpha val="100000"/>
                  </a:srgbClr>
                </a:gs>
                <a:gs pos="100000">
                  <a:srgbClr val="1B8AC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27473" cy="64117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3" name="Group 13"/>
          <p:cNvGrpSpPr/>
          <p:nvPr/>
        </p:nvGrpSpPr>
        <p:grpSpPr>
          <a:xfrm rot="3581999">
            <a:off x="17367743" y="-4728115"/>
            <a:ext cx="1354700" cy="24199806"/>
            <a:chOff x="0" y="0"/>
            <a:chExt cx="356793" cy="637361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56793" cy="6373612"/>
            </a:xfrm>
            <a:custGeom>
              <a:avLst/>
              <a:gdLst/>
              <a:ahLst/>
              <a:cxnLst/>
              <a:rect l="l" t="t" r="r" b="b"/>
              <a:pathLst>
                <a:path w="356793" h="6373612">
                  <a:moveTo>
                    <a:pt x="0" y="0"/>
                  </a:moveTo>
                  <a:lnTo>
                    <a:pt x="356793" y="0"/>
                  </a:lnTo>
                  <a:lnTo>
                    <a:pt x="356793" y="6373612"/>
                  </a:lnTo>
                  <a:lnTo>
                    <a:pt x="0" y="6373612"/>
                  </a:lnTo>
                  <a:close/>
                </a:path>
              </a:pathLst>
            </a:custGeom>
            <a:gradFill rotWithShape="1">
              <a:gsLst>
                <a:gs pos="0">
                  <a:srgbClr val="003875">
                    <a:alpha val="100000"/>
                  </a:srgbClr>
                </a:gs>
                <a:gs pos="100000">
                  <a:srgbClr val="1B8AC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356793" cy="64117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6" name="Group 16"/>
          <p:cNvGrpSpPr/>
          <p:nvPr/>
        </p:nvGrpSpPr>
        <p:grpSpPr>
          <a:xfrm rot="-3582119">
            <a:off x="-1023718" y="1536501"/>
            <a:ext cx="1008444" cy="9442484"/>
            <a:chOff x="0" y="0"/>
            <a:chExt cx="265598" cy="248690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65598" cy="2486909"/>
            </a:xfrm>
            <a:custGeom>
              <a:avLst/>
              <a:gdLst/>
              <a:ahLst/>
              <a:cxnLst/>
              <a:rect l="l" t="t" r="r" b="b"/>
              <a:pathLst>
                <a:path w="265598" h="2486909">
                  <a:moveTo>
                    <a:pt x="0" y="0"/>
                  </a:moveTo>
                  <a:lnTo>
                    <a:pt x="265598" y="0"/>
                  </a:lnTo>
                  <a:lnTo>
                    <a:pt x="265598" y="2486909"/>
                  </a:lnTo>
                  <a:lnTo>
                    <a:pt x="0" y="2486909"/>
                  </a:lnTo>
                  <a:close/>
                </a:path>
              </a:pathLst>
            </a:custGeom>
            <a:gradFill rotWithShape="1">
              <a:gsLst>
                <a:gs pos="0">
                  <a:srgbClr val="3199CE">
                    <a:alpha val="100000"/>
                  </a:srgbClr>
                </a:gs>
                <a:gs pos="50000">
                  <a:srgbClr val="3199CE">
                    <a:alpha val="71000"/>
                  </a:srgbClr>
                </a:gs>
                <a:gs pos="100000">
                  <a:srgbClr val="3199CE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65598" cy="25250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9" name="Group 19"/>
          <p:cNvGrpSpPr/>
          <p:nvPr/>
        </p:nvGrpSpPr>
        <p:grpSpPr>
          <a:xfrm rot="3581999">
            <a:off x="17959935" y="1536501"/>
            <a:ext cx="1008444" cy="9442484"/>
            <a:chOff x="0" y="0"/>
            <a:chExt cx="265598" cy="248690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65598" cy="2486909"/>
            </a:xfrm>
            <a:custGeom>
              <a:avLst/>
              <a:gdLst/>
              <a:ahLst/>
              <a:cxnLst/>
              <a:rect l="l" t="t" r="r" b="b"/>
              <a:pathLst>
                <a:path w="265598" h="2486909">
                  <a:moveTo>
                    <a:pt x="0" y="0"/>
                  </a:moveTo>
                  <a:lnTo>
                    <a:pt x="265598" y="0"/>
                  </a:lnTo>
                  <a:lnTo>
                    <a:pt x="265598" y="2486909"/>
                  </a:lnTo>
                  <a:lnTo>
                    <a:pt x="0" y="2486909"/>
                  </a:lnTo>
                  <a:close/>
                </a:path>
              </a:pathLst>
            </a:custGeom>
            <a:gradFill rotWithShape="1">
              <a:gsLst>
                <a:gs pos="0">
                  <a:srgbClr val="3199CE">
                    <a:alpha val="100000"/>
                  </a:srgbClr>
                </a:gs>
                <a:gs pos="50000">
                  <a:srgbClr val="3199CE">
                    <a:alpha val="71000"/>
                  </a:srgbClr>
                </a:gs>
                <a:gs pos="100000">
                  <a:srgbClr val="3199CE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265598" cy="25250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22" name="Freeform 22"/>
          <p:cNvSpPr/>
          <p:nvPr/>
        </p:nvSpPr>
        <p:spPr>
          <a:xfrm>
            <a:off x="6096050" y="5736509"/>
            <a:ext cx="6095900" cy="7043582"/>
          </a:xfrm>
          <a:custGeom>
            <a:avLst/>
            <a:gdLst/>
            <a:ahLst/>
            <a:cxnLst/>
            <a:rect l="l" t="t" r="r" b="b"/>
            <a:pathLst>
              <a:path w="6095900" h="7043582">
                <a:moveTo>
                  <a:pt x="0" y="0"/>
                </a:moveTo>
                <a:lnTo>
                  <a:pt x="6095900" y="0"/>
                </a:lnTo>
                <a:lnTo>
                  <a:pt x="6095900" y="7043582"/>
                </a:lnTo>
                <a:lnTo>
                  <a:pt x="0" y="70435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 rot="0">
            <a:off x="6352543" y="6010059"/>
            <a:ext cx="5582914" cy="6496481"/>
            <a:chOff x="0" y="0"/>
            <a:chExt cx="6985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5"/>
              <a:stretch>
                <a:fillRect t="-28906"/>
              </a:stretch>
            </a:blipFill>
          </p:spPr>
        </p:sp>
      </p:grpSp>
      <p:sp>
        <p:nvSpPr>
          <p:cNvPr id="25" name="Freeform 25"/>
          <p:cNvSpPr/>
          <p:nvPr/>
        </p:nvSpPr>
        <p:spPr>
          <a:xfrm flipH="1">
            <a:off x="13891532" y="-997422"/>
            <a:ext cx="7588781" cy="1994845"/>
          </a:xfrm>
          <a:custGeom>
            <a:avLst/>
            <a:gdLst/>
            <a:ahLst/>
            <a:cxnLst/>
            <a:rect l="l" t="t" r="r" b="b"/>
            <a:pathLst>
              <a:path w="7588781" h="1994845">
                <a:moveTo>
                  <a:pt x="7588780" y="0"/>
                </a:moveTo>
                <a:lnTo>
                  <a:pt x="0" y="0"/>
                </a:lnTo>
                <a:lnTo>
                  <a:pt x="0" y="1994844"/>
                </a:lnTo>
                <a:lnTo>
                  <a:pt x="7588780" y="1994844"/>
                </a:lnTo>
                <a:lnTo>
                  <a:pt x="7588780" y="0"/>
                </a:lnTo>
                <a:close/>
              </a:path>
            </a:pathLst>
          </a:custGeom>
          <a:blipFill>
            <a:blip r:embed="rId6">
              <a:alphaModFix amt="4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-3192312" y="-997422"/>
            <a:ext cx="7588781" cy="1994845"/>
          </a:xfrm>
          <a:custGeom>
            <a:avLst/>
            <a:gdLst/>
            <a:ahLst/>
            <a:cxnLst/>
            <a:rect l="l" t="t" r="r" b="b"/>
            <a:pathLst>
              <a:path w="7588781" h="1994845">
                <a:moveTo>
                  <a:pt x="0" y="0"/>
                </a:moveTo>
                <a:lnTo>
                  <a:pt x="7588780" y="0"/>
                </a:lnTo>
                <a:lnTo>
                  <a:pt x="7588780" y="1994844"/>
                </a:lnTo>
                <a:lnTo>
                  <a:pt x="0" y="19948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227074" y="968960"/>
            <a:ext cx="10071474" cy="2028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7500" b="1" spc="-232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SECURITY MISCONFIGU</a:t>
            </a:r>
            <a:r>
              <a:rPr lang="en-US" sz="7500" b="1" spc="-232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RATION</a:t>
            </a:r>
            <a:endParaRPr lang="en-US" sz="7500" b="1" spc="-232">
              <a:solidFill>
                <a:srgbClr val="FFFFFF"/>
              </a:solidFill>
              <a:latin typeface="Telegraf Bold" panose="00000800000000000000"/>
              <a:ea typeface="Telegraf Bold" panose="00000800000000000000"/>
              <a:cs typeface="Telegraf Bold" panose="00000800000000000000"/>
              <a:sym typeface="Telegraf Bold" panose="00000800000000000000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686556" y="4720763"/>
            <a:ext cx="11505394" cy="3421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FFFFFF"/>
                </a:solidFill>
                <a:latin typeface="Telegraf" panose="00000500000000000000"/>
                <a:ea typeface="Telegraf" panose="00000500000000000000"/>
                <a:cs typeface="Telegraf" panose="00000500000000000000"/>
                <a:sym typeface="Telegraf" panose="00000500000000000000"/>
              </a:rPr>
              <a:t>Un</a:t>
            </a:r>
            <a:r>
              <a:rPr lang="en-US" sz="4800">
                <a:solidFill>
                  <a:srgbClr val="FFFFFF"/>
                </a:solidFill>
                <a:latin typeface="Telegraf" panose="00000500000000000000"/>
                <a:ea typeface="Telegraf" panose="00000500000000000000"/>
                <a:cs typeface="Telegraf" panose="00000500000000000000"/>
                <a:sym typeface="Telegraf" panose="00000500000000000000"/>
              </a:rPr>
              <a:t>safe default settings, exposed services.</a:t>
            </a:r>
            <a:endParaRPr lang="en-US" sz="4800">
              <a:solidFill>
                <a:srgbClr val="FFFFFF"/>
              </a:solidFill>
              <a:latin typeface="Telegraf" panose="00000500000000000000"/>
              <a:ea typeface="Telegraf" panose="00000500000000000000"/>
              <a:cs typeface="Telegraf" panose="00000500000000000000"/>
              <a:sym typeface="Telegraf" panose="00000500000000000000"/>
            </a:endParaRPr>
          </a:p>
          <a:p>
            <a:pPr algn="l">
              <a:lnSpc>
                <a:spcPts val="6720"/>
              </a:lnSpc>
              <a:spcBef>
                <a:spcPct val="0"/>
              </a:spcBef>
            </a:pPr>
            <a:r>
              <a:rPr lang="en-US" sz="4800">
                <a:solidFill>
                  <a:srgbClr val="FFFFFF"/>
                </a:solidFill>
                <a:latin typeface="Telegraf" panose="00000500000000000000"/>
                <a:ea typeface="Telegraf" panose="00000500000000000000"/>
                <a:cs typeface="Telegraf" panose="00000500000000000000"/>
                <a:sym typeface="Telegraf" panose="00000500000000000000"/>
              </a:rPr>
              <a:t>Mitigation: secure configuration, hardening.</a:t>
            </a:r>
            <a:endParaRPr lang="en-US" sz="4800">
              <a:solidFill>
                <a:srgbClr val="FFFFFF"/>
              </a:solidFill>
              <a:latin typeface="Telegraf" panose="00000500000000000000"/>
              <a:ea typeface="Telegraf" panose="00000500000000000000"/>
              <a:cs typeface="Telegraf" panose="00000500000000000000"/>
              <a:sym typeface="Telegraf" panose="0000050000000000000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73079">
                <a:alpha val="100000"/>
              </a:srgbClr>
            </a:gs>
            <a:gs pos="100000">
              <a:srgbClr val="07112C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7217880">
            <a:off x="15170342" y="-7168170"/>
            <a:ext cx="2666123" cy="17374172"/>
            <a:chOff x="0" y="0"/>
            <a:chExt cx="702189" cy="457591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02189" cy="4575913"/>
            </a:xfrm>
            <a:custGeom>
              <a:avLst/>
              <a:gdLst/>
              <a:ahLst/>
              <a:cxnLst/>
              <a:rect l="l" t="t" r="r" b="b"/>
              <a:pathLst>
                <a:path w="702189" h="4575913">
                  <a:moveTo>
                    <a:pt x="0" y="0"/>
                  </a:moveTo>
                  <a:lnTo>
                    <a:pt x="702189" y="0"/>
                  </a:lnTo>
                  <a:lnTo>
                    <a:pt x="702189" y="4575913"/>
                  </a:lnTo>
                  <a:lnTo>
                    <a:pt x="0" y="4575913"/>
                  </a:lnTo>
                  <a:close/>
                </a:path>
              </a:pathLst>
            </a:custGeom>
            <a:gradFill rotWithShape="1">
              <a:gsLst>
                <a:gs pos="0">
                  <a:srgbClr val="1B8AC2">
                    <a:alpha val="100000"/>
                  </a:srgbClr>
                </a:gs>
                <a:gs pos="100000">
                  <a:srgbClr val="003875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702189" cy="46140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6376550" y="-3501785"/>
            <a:ext cx="5534900" cy="5534900"/>
          </a:xfrm>
          <a:custGeom>
            <a:avLst/>
            <a:gdLst/>
            <a:ahLst/>
            <a:cxnLst/>
            <a:rect l="l" t="t" r="r" b="b"/>
            <a:pathLst>
              <a:path w="5534900" h="5534900">
                <a:moveTo>
                  <a:pt x="0" y="0"/>
                </a:moveTo>
                <a:lnTo>
                  <a:pt x="5534900" y="0"/>
                </a:lnTo>
                <a:lnTo>
                  <a:pt x="5534900" y="5534899"/>
                </a:lnTo>
                <a:lnTo>
                  <a:pt x="0" y="55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-7218000">
            <a:off x="451492" y="-7168170"/>
            <a:ext cx="2665840" cy="17374172"/>
            <a:chOff x="0" y="0"/>
            <a:chExt cx="702114" cy="457591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02114" cy="4575913"/>
            </a:xfrm>
            <a:custGeom>
              <a:avLst/>
              <a:gdLst/>
              <a:ahLst/>
              <a:cxnLst/>
              <a:rect l="l" t="t" r="r" b="b"/>
              <a:pathLst>
                <a:path w="702114" h="4575913">
                  <a:moveTo>
                    <a:pt x="0" y="0"/>
                  </a:moveTo>
                  <a:lnTo>
                    <a:pt x="702114" y="0"/>
                  </a:lnTo>
                  <a:lnTo>
                    <a:pt x="702114" y="4575913"/>
                  </a:lnTo>
                  <a:lnTo>
                    <a:pt x="0" y="4575913"/>
                  </a:lnTo>
                  <a:close/>
                </a:path>
              </a:pathLst>
            </a:custGeom>
            <a:gradFill rotWithShape="1">
              <a:gsLst>
                <a:gs pos="0">
                  <a:srgbClr val="1B8AC2">
                    <a:alpha val="100000"/>
                  </a:srgbClr>
                </a:gs>
                <a:gs pos="100000">
                  <a:srgbClr val="003875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702114" cy="46140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7217880">
            <a:off x="17451294" y="-8892655"/>
            <a:ext cx="1243376" cy="24199806"/>
            <a:chOff x="0" y="0"/>
            <a:chExt cx="327473" cy="637361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27473" cy="6373612"/>
            </a:xfrm>
            <a:custGeom>
              <a:avLst/>
              <a:gdLst/>
              <a:ahLst/>
              <a:cxnLst/>
              <a:rect l="l" t="t" r="r" b="b"/>
              <a:pathLst>
                <a:path w="327473" h="6373612">
                  <a:moveTo>
                    <a:pt x="0" y="0"/>
                  </a:moveTo>
                  <a:lnTo>
                    <a:pt x="327473" y="0"/>
                  </a:lnTo>
                  <a:lnTo>
                    <a:pt x="327473" y="6373612"/>
                  </a:lnTo>
                  <a:lnTo>
                    <a:pt x="0" y="6373612"/>
                  </a:lnTo>
                  <a:close/>
                </a:path>
              </a:pathLst>
            </a:custGeom>
            <a:gradFill rotWithShape="1">
              <a:gsLst>
                <a:gs pos="0">
                  <a:srgbClr val="003875">
                    <a:alpha val="100000"/>
                  </a:srgbClr>
                </a:gs>
                <a:gs pos="100000">
                  <a:srgbClr val="1B8AC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27473" cy="64117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2" name="Group 12"/>
          <p:cNvGrpSpPr/>
          <p:nvPr/>
        </p:nvGrpSpPr>
        <p:grpSpPr>
          <a:xfrm rot="-7218000">
            <a:off x="-434443" y="-8892655"/>
            <a:ext cx="1354700" cy="24199806"/>
            <a:chOff x="0" y="0"/>
            <a:chExt cx="356793" cy="637361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56793" cy="6373612"/>
            </a:xfrm>
            <a:custGeom>
              <a:avLst/>
              <a:gdLst/>
              <a:ahLst/>
              <a:cxnLst/>
              <a:rect l="l" t="t" r="r" b="b"/>
              <a:pathLst>
                <a:path w="356793" h="6373612">
                  <a:moveTo>
                    <a:pt x="0" y="0"/>
                  </a:moveTo>
                  <a:lnTo>
                    <a:pt x="356793" y="0"/>
                  </a:lnTo>
                  <a:lnTo>
                    <a:pt x="356793" y="6373612"/>
                  </a:lnTo>
                  <a:lnTo>
                    <a:pt x="0" y="6373612"/>
                  </a:lnTo>
                  <a:close/>
                </a:path>
              </a:pathLst>
            </a:custGeom>
            <a:gradFill rotWithShape="1">
              <a:gsLst>
                <a:gs pos="0">
                  <a:srgbClr val="003875">
                    <a:alpha val="100000"/>
                  </a:srgbClr>
                </a:gs>
                <a:gs pos="100000">
                  <a:srgbClr val="1B8AC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356793" cy="64117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5" name="Group 15"/>
          <p:cNvGrpSpPr/>
          <p:nvPr/>
        </p:nvGrpSpPr>
        <p:grpSpPr>
          <a:xfrm rot="7217880">
            <a:off x="18303274" y="-399948"/>
            <a:ext cx="1008444" cy="9442484"/>
            <a:chOff x="0" y="0"/>
            <a:chExt cx="265598" cy="248690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65598" cy="2486909"/>
            </a:xfrm>
            <a:custGeom>
              <a:avLst/>
              <a:gdLst/>
              <a:ahLst/>
              <a:cxnLst/>
              <a:rect l="l" t="t" r="r" b="b"/>
              <a:pathLst>
                <a:path w="265598" h="2486909">
                  <a:moveTo>
                    <a:pt x="0" y="0"/>
                  </a:moveTo>
                  <a:lnTo>
                    <a:pt x="265598" y="0"/>
                  </a:lnTo>
                  <a:lnTo>
                    <a:pt x="265598" y="2486909"/>
                  </a:lnTo>
                  <a:lnTo>
                    <a:pt x="0" y="2486909"/>
                  </a:lnTo>
                  <a:close/>
                </a:path>
              </a:pathLst>
            </a:custGeom>
            <a:gradFill rotWithShape="1">
              <a:gsLst>
                <a:gs pos="0">
                  <a:srgbClr val="3199CE">
                    <a:alpha val="100000"/>
                  </a:srgbClr>
                </a:gs>
                <a:gs pos="50000">
                  <a:srgbClr val="3199CE">
                    <a:alpha val="71000"/>
                  </a:srgbClr>
                </a:gs>
                <a:gs pos="100000">
                  <a:srgbClr val="3199CE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65598" cy="25250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8" name="Group 18"/>
          <p:cNvGrpSpPr/>
          <p:nvPr/>
        </p:nvGrpSpPr>
        <p:grpSpPr>
          <a:xfrm rot="-7218000">
            <a:off x="-680379" y="-399948"/>
            <a:ext cx="1008444" cy="9442484"/>
            <a:chOff x="0" y="0"/>
            <a:chExt cx="265598" cy="248690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65598" cy="2486909"/>
            </a:xfrm>
            <a:custGeom>
              <a:avLst/>
              <a:gdLst/>
              <a:ahLst/>
              <a:cxnLst/>
              <a:rect l="l" t="t" r="r" b="b"/>
              <a:pathLst>
                <a:path w="265598" h="2486909">
                  <a:moveTo>
                    <a:pt x="0" y="0"/>
                  </a:moveTo>
                  <a:lnTo>
                    <a:pt x="265598" y="0"/>
                  </a:lnTo>
                  <a:lnTo>
                    <a:pt x="265598" y="2486909"/>
                  </a:lnTo>
                  <a:lnTo>
                    <a:pt x="0" y="2486909"/>
                  </a:lnTo>
                  <a:close/>
                </a:path>
              </a:pathLst>
            </a:custGeom>
            <a:gradFill rotWithShape="1">
              <a:gsLst>
                <a:gs pos="0">
                  <a:srgbClr val="3199CE">
                    <a:alpha val="100000"/>
                  </a:srgbClr>
                </a:gs>
                <a:gs pos="50000">
                  <a:srgbClr val="3199CE">
                    <a:alpha val="71000"/>
                  </a:srgbClr>
                </a:gs>
                <a:gs pos="100000">
                  <a:srgbClr val="3199CE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65598" cy="25250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21" name="Freeform 21"/>
          <p:cNvSpPr/>
          <p:nvPr/>
        </p:nvSpPr>
        <p:spPr>
          <a:xfrm>
            <a:off x="652880" y="529587"/>
            <a:ext cx="5196373" cy="6004213"/>
          </a:xfrm>
          <a:custGeom>
            <a:avLst/>
            <a:gdLst/>
            <a:ahLst/>
            <a:cxnLst/>
            <a:rect l="l" t="t" r="r" b="b"/>
            <a:pathLst>
              <a:path w="5196373" h="6004213">
                <a:moveTo>
                  <a:pt x="0" y="0"/>
                </a:moveTo>
                <a:lnTo>
                  <a:pt x="5196373" y="0"/>
                </a:lnTo>
                <a:lnTo>
                  <a:pt x="5196373" y="6004212"/>
                </a:lnTo>
                <a:lnTo>
                  <a:pt x="0" y="60042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2438747" y="529587"/>
            <a:ext cx="5196373" cy="6004213"/>
          </a:xfrm>
          <a:custGeom>
            <a:avLst/>
            <a:gdLst/>
            <a:ahLst/>
            <a:cxnLst/>
            <a:rect l="l" t="t" r="r" b="b"/>
            <a:pathLst>
              <a:path w="5196373" h="6004213">
                <a:moveTo>
                  <a:pt x="0" y="0"/>
                </a:moveTo>
                <a:lnTo>
                  <a:pt x="5196373" y="0"/>
                </a:lnTo>
                <a:lnTo>
                  <a:pt x="5196373" y="6004212"/>
                </a:lnTo>
                <a:lnTo>
                  <a:pt x="0" y="60042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 rot="0">
            <a:off x="871525" y="762772"/>
            <a:ext cx="4759084" cy="5537843"/>
            <a:chOff x="0" y="0"/>
            <a:chExt cx="6985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5"/>
              <a:stretch>
                <a:fillRect l="-37163" r="-37163"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 rot="0">
            <a:off x="12657391" y="762772"/>
            <a:ext cx="4759084" cy="5537843"/>
            <a:chOff x="0" y="0"/>
            <a:chExt cx="6985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6"/>
              <a:stretch>
                <a:fillRect l="-37272" r="-37272"/>
              </a:stretch>
            </a:blipFill>
          </p:spPr>
        </p:sp>
      </p:grpSp>
      <p:sp>
        <p:nvSpPr>
          <p:cNvPr id="27" name="Freeform 27"/>
          <p:cNvSpPr/>
          <p:nvPr/>
        </p:nvSpPr>
        <p:spPr>
          <a:xfrm rot="-10800000" flipH="1">
            <a:off x="-3192312" y="9258300"/>
            <a:ext cx="7588781" cy="1994845"/>
          </a:xfrm>
          <a:custGeom>
            <a:avLst/>
            <a:gdLst/>
            <a:ahLst/>
            <a:cxnLst/>
            <a:rect l="l" t="t" r="r" b="b"/>
            <a:pathLst>
              <a:path w="7588781" h="1994845">
                <a:moveTo>
                  <a:pt x="7588780" y="0"/>
                </a:moveTo>
                <a:lnTo>
                  <a:pt x="0" y="0"/>
                </a:lnTo>
                <a:lnTo>
                  <a:pt x="0" y="1994845"/>
                </a:lnTo>
                <a:lnTo>
                  <a:pt x="7588780" y="1994845"/>
                </a:lnTo>
                <a:lnTo>
                  <a:pt x="7588780" y="0"/>
                </a:lnTo>
                <a:close/>
              </a:path>
            </a:pathLst>
          </a:custGeom>
          <a:blipFill>
            <a:blip r:embed="rId7">
              <a:alphaModFix amt="4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 rot="-10800000">
            <a:off x="13891532" y="9258300"/>
            <a:ext cx="7588781" cy="1994845"/>
          </a:xfrm>
          <a:custGeom>
            <a:avLst/>
            <a:gdLst/>
            <a:ahLst/>
            <a:cxnLst/>
            <a:rect l="l" t="t" r="r" b="b"/>
            <a:pathLst>
              <a:path w="7588781" h="1994845">
                <a:moveTo>
                  <a:pt x="0" y="0"/>
                </a:moveTo>
                <a:lnTo>
                  <a:pt x="7588780" y="0"/>
                </a:lnTo>
                <a:lnTo>
                  <a:pt x="7588780" y="1994845"/>
                </a:lnTo>
                <a:lnTo>
                  <a:pt x="0" y="19948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4154536" y="596262"/>
            <a:ext cx="9892132" cy="298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-232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VULN</a:t>
            </a:r>
            <a:r>
              <a:rPr lang="en-US" sz="7500" b="1" spc="-232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ERABLE &amp; OUTD</a:t>
            </a:r>
            <a:r>
              <a:rPr lang="en-US" sz="7500" b="1" spc="-232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AT</a:t>
            </a:r>
            <a:r>
              <a:rPr lang="en-US" sz="7500" b="1" spc="-232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ED COMPONENTS</a:t>
            </a:r>
            <a:endParaRPr lang="en-US" sz="7500" b="1" spc="-232">
              <a:solidFill>
                <a:srgbClr val="FFFFFF"/>
              </a:solidFill>
              <a:latin typeface="Telegraf Bold" panose="00000800000000000000"/>
              <a:ea typeface="Telegraf Bold" panose="00000800000000000000"/>
              <a:cs typeface="Telegraf Bold" panose="00000800000000000000"/>
              <a:sym typeface="Telegraf Bold" panose="00000800000000000000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028700" y="5856271"/>
            <a:ext cx="15871816" cy="1761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60"/>
              </a:lnSpc>
              <a:spcBef>
                <a:spcPct val="0"/>
              </a:spcBef>
            </a:pPr>
            <a:r>
              <a:rPr lang="en-US" sz="4900">
                <a:solidFill>
                  <a:srgbClr val="FFFFFF"/>
                </a:solidFill>
                <a:latin typeface="Telegraf" panose="00000500000000000000"/>
                <a:ea typeface="Telegraf" panose="00000500000000000000"/>
                <a:cs typeface="Telegraf" panose="00000500000000000000"/>
                <a:sym typeface="Telegraf" panose="00000500000000000000"/>
              </a:rPr>
              <a:t>O</a:t>
            </a:r>
            <a:r>
              <a:rPr lang="en-US" sz="4900">
                <a:solidFill>
                  <a:srgbClr val="FFFFFF"/>
                </a:solidFill>
                <a:latin typeface="Telegraf" panose="00000500000000000000"/>
                <a:ea typeface="Telegraf" panose="00000500000000000000"/>
                <a:cs typeface="Telegraf" panose="00000500000000000000"/>
                <a:sym typeface="Telegraf" panose="00000500000000000000"/>
              </a:rPr>
              <a:t>ld libraries with known flaws.</a:t>
            </a:r>
            <a:endParaRPr lang="en-US" sz="4900">
              <a:solidFill>
                <a:srgbClr val="FFFFFF"/>
              </a:solidFill>
              <a:latin typeface="Telegraf" panose="00000500000000000000"/>
              <a:ea typeface="Telegraf" panose="00000500000000000000"/>
              <a:cs typeface="Telegraf" panose="00000500000000000000"/>
              <a:sym typeface="Telegraf" panose="00000500000000000000"/>
            </a:endParaRPr>
          </a:p>
          <a:p>
            <a:pPr algn="ctr">
              <a:lnSpc>
                <a:spcPts val="6860"/>
              </a:lnSpc>
              <a:spcBef>
                <a:spcPct val="0"/>
              </a:spcBef>
            </a:pPr>
            <a:r>
              <a:rPr lang="en-US" sz="4900">
                <a:solidFill>
                  <a:srgbClr val="FFFFFF"/>
                </a:solidFill>
                <a:latin typeface="Telegraf" panose="00000500000000000000"/>
                <a:ea typeface="Telegraf" panose="00000500000000000000"/>
                <a:cs typeface="Telegraf" panose="00000500000000000000"/>
                <a:sym typeface="Telegraf" panose="00000500000000000000"/>
              </a:rPr>
              <a:t>Mitigation: patch and update regularly.</a:t>
            </a:r>
            <a:endParaRPr lang="en-US" sz="4900">
              <a:solidFill>
                <a:srgbClr val="FFFFFF"/>
              </a:solidFill>
              <a:latin typeface="Telegraf" panose="00000500000000000000"/>
              <a:ea typeface="Telegraf" panose="00000500000000000000"/>
              <a:cs typeface="Telegraf" panose="00000500000000000000"/>
              <a:sym typeface="Telegraf" panose="0000050000000000000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112C">
                <a:alpha val="100000"/>
              </a:srgbClr>
            </a:gs>
            <a:gs pos="100000">
              <a:srgbClr val="173079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3612000">
            <a:off x="5561020" y="736126"/>
            <a:ext cx="2124063" cy="24199806"/>
            <a:chOff x="0" y="0"/>
            <a:chExt cx="559424" cy="63736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59424" cy="6373612"/>
            </a:xfrm>
            <a:custGeom>
              <a:avLst/>
              <a:gdLst/>
              <a:ahLst/>
              <a:cxnLst/>
              <a:rect l="l" t="t" r="r" b="b"/>
              <a:pathLst>
                <a:path w="559424" h="6373612">
                  <a:moveTo>
                    <a:pt x="0" y="0"/>
                  </a:moveTo>
                  <a:lnTo>
                    <a:pt x="559424" y="0"/>
                  </a:lnTo>
                  <a:lnTo>
                    <a:pt x="559424" y="6373612"/>
                  </a:lnTo>
                  <a:lnTo>
                    <a:pt x="0" y="6373612"/>
                  </a:lnTo>
                  <a:close/>
                </a:path>
              </a:pathLst>
            </a:custGeom>
            <a:gradFill rotWithShape="1">
              <a:gsLst>
                <a:gs pos="0">
                  <a:srgbClr val="1B8AC2">
                    <a:alpha val="100000"/>
                  </a:srgbClr>
                </a:gs>
                <a:gs pos="100000">
                  <a:srgbClr val="003875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59424" cy="64117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Freeform 5"/>
          <p:cNvSpPr/>
          <p:nvPr/>
        </p:nvSpPr>
        <p:spPr>
          <a:xfrm>
            <a:off x="14620782" y="2820431"/>
            <a:ext cx="6894235" cy="6894235"/>
          </a:xfrm>
          <a:custGeom>
            <a:avLst/>
            <a:gdLst/>
            <a:ahLst/>
            <a:cxnLst/>
            <a:rect l="l" t="t" r="r" b="b"/>
            <a:pathLst>
              <a:path w="6894235" h="6894235">
                <a:moveTo>
                  <a:pt x="0" y="0"/>
                </a:moveTo>
                <a:lnTo>
                  <a:pt x="6894234" y="0"/>
                </a:lnTo>
                <a:lnTo>
                  <a:pt x="6894234" y="6894234"/>
                </a:lnTo>
                <a:lnTo>
                  <a:pt x="0" y="689423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227016" y="2820431"/>
            <a:ext cx="6894235" cy="6894235"/>
          </a:xfrm>
          <a:custGeom>
            <a:avLst/>
            <a:gdLst/>
            <a:ahLst/>
            <a:cxnLst/>
            <a:rect l="l" t="t" r="r" b="b"/>
            <a:pathLst>
              <a:path w="6894235" h="6894235">
                <a:moveTo>
                  <a:pt x="0" y="0"/>
                </a:moveTo>
                <a:lnTo>
                  <a:pt x="6894234" y="0"/>
                </a:lnTo>
                <a:lnTo>
                  <a:pt x="6894234" y="6894234"/>
                </a:lnTo>
                <a:lnTo>
                  <a:pt x="0" y="689423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3611999">
            <a:off x="10602917" y="736126"/>
            <a:ext cx="2124063" cy="24199806"/>
            <a:chOff x="0" y="0"/>
            <a:chExt cx="559424" cy="637361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59424" cy="6373612"/>
            </a:xfrm>
            <a:custGeom>
              <a:avLst/>
              <a:gdLst/>
              <a:ahLst/>
              <a:cxnLst/>
              <a:rect l="l" t="t" r="r" b="b"/>
              <a:pathLst>
                <a:path w="559424" h="6373612">
                  <a:moveTo>
                    <a:pt x="0" y="0"/>
                  </a:moveTo>
                  <a:lnTo>
                    <a:pt x="559424" y="0"/>
                  </a:lnTo>
                  <a:lnTo>
                    <a:pt x="559424" y="6373612"/>
                  </a:lnTo>
                  <a:lnTo>
                    <a:pt x="0" y="6373612"/>
                  </a:lnTo>
                  <a:close/>
                </a:path>
              </a:pathLst>
            </a:custGeom>
            <a:gradFill rotWithShape="1">
              <a:gsLst>
                <a:gs pos="0">
                  <a:srgbClr val="1B8AC2">
                    <a:alpha val="100000"/>
                  </a:srgbClr>
                </a:gs>
                <a:gs pos="100000">
                  <a:srgbClr val="003875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59424" cy="64117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 rot="-3612000">
            <a:off x="-654848" y="4941622"/>
            <a:ext cx="2124063" cy="11016594"/>
            <a:chOff x="0" y="0"/>
            <a:chExt cx="559424" cy="290149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59424" cy="2901490"/>
            </a:xfrm>
            <a:custGeom>
              <a:avLst/>
              <a:gdLst/>
              <a:ahLst/>
              <a:cxnLst/>
              <a:rect l="l" t="t" r="r" b="b"/>
              <a:pathLst>
                <a:path w="559424" h="2901490">
                  <a:moveTo>
                    <a:pt x="0" y="0"/>
                  </a:moveTo>
                  <a:lnTo>
                    <a:pt x="559424" y="0"/>
                  </a:lnTo>
                  <a:lnTo>
                    <a:pt x="559424" y="2901490"/>
                  </a:lnTo>
                  <a:lnTo>
                    <a:pt x="0" y="2901490"/>
                  </a:lnTo>
                  <a:close/>
                </a:path>
              </a:pathLst>
            </a:custGeom>
            <a:gradFill rotWithShape="1">
              <a:gsLst>
                <a:gs pos="0">
                  <a:srgbClr val="003875">
                    <a:alpha val="100000"/>
                  </a:srgbClr>
                </a:gs>
                <a:gs pos="100000">
                  <a:srgbClr val="1B8AC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559424" cy="29395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3" name="Group 13"/>
          <p:cNvGrpSpPr/>
          <p:nvPr/>
        </p:nvGrpSpPr>
        <p:grpSpPr>
          <a:xfrm rot="3611999">
            <a:off x="16818786" y="4941622"/>
            <a:ext cx="2124063" cy="11016594"/>
            <a:chOff x="0" y="0"/>
            <a:chExt cx="559424" cy="290149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59424" cy="2901490"/>
            </a:xfrm>
            <a:custGeom>
              <a:avLst/>
              <a:gdLst/>
              <a:ahLst/>
              <a:cxnLst/>
              <a:rect l="l" t="t" r="r" b="b"/>
              <a:pathLst>
                <a:path w="559424" h="2901490">
                  <a:moveTo>
                    <a:pt x="0" y="0"/>
                  </a:moveTo>
                  <a:lnTo>
                    <a:pt x="559424" y="0"/>
                  </a:lnTo>
                  <a:lnTo>
                    <a:pt x="559424" y="2901490"/>
                  </a:lnTo>
                  <a:lnTo>
                    <a:pt x="0" y="2901490"/>
                  </a:lnTo>
                  <a:close/>
                </a:path>
              </a:pathLst>
            </a:custGeom>
            <a:gradFill rotWithShape="1">
              <a:gsLst>
                <a:gs pos="0">
                  <a:srgbClr val="003875">
                    <a:alpha val="100000"/>
                  </a:srgbClr>
                </a:gs>
                <a:gs pos="100000">
                  <a:srgbClr val="1B8AC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559424" cy="29395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6" name="Group 16"/>
          <p:cNvGrpSpPr/>
          <p:nvPr/>
        </p:nvGrpSpPr>
        <p:grpSpPr>
          <a:xfrm rot="-3612000">
            <a:off x="3207494" y="7156584"/>
            <a:ext cx="850040" cy="5702196"/>
            <a:chOff x="0" y="0"/>
            <a:chExt cx="223879" cy="150181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23879" cy="1501813"/>
            </a:xfrm>
            <a:custGeom>
              <a:avLst/>
              <a:gdLst/>
              <a:ahLst/>
              <a:cxnLst/>
              <a:rect l="l" t="t" r="r" b="b"/>
              <a:pathLst>
                <a:path w="223879" h="1501813">
                  <a:moveTo>
                    <a:pt x="0" y="0"/>
                  </a:moveTo>
                  <a:lnTo>
                    <a:pt x="223879" y="0"/>
                  </a:lnTo>
                  <a:lnTo>
                    <a:pt x="223879" y="1501813"/>
                  </a:lnTo>
                  <a:lnTo>
                    <a:pt x="0" y="1501813"/>
                  </a:lnTo>
                  <a:close/>
                </a:path>
              </a:pathLst>
            </a:custGeom>
            <a:gradFill rotWithShape="1">
              <a:gsLst>
                <a:gs pos="0">
                  <a:srgbClr val="3199CE">
                    <a:alpha val="0"/>
                  </a:srgbClr>
                </a:gs>
                <a:gs pos="50000">
                  <a:srgbClr val="3199CE">
                    <a:alpha val="71000"/>
                  </a:srgbClr>
                </a:gs>
                <a:gs pos="100000">
                  <a:srgbClr val="3199C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23879" cy="15399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9" name="Group 19"/>
          <p:cNvGrpSpPr/>
          <p:nvPr/>
        </p:nvGrpSpPr>
        <p:grpSpPr>
          <a:xfrm rot="3611999">
            <a:off x="14230466" y="7156584"/>
            <a:ext cx="850040" cy="5702196"/>
            <a:chOff x="0" y="0"/>
            <a:chExt cx="223879" cy="150181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23879" cy="1501813"/>
            </a:xfrm>
            <a:custGeom>
              <a:avLst/>
              <a:gdLst/>
              <a:ahLst/>
              <a:cxnLst/>
              <a:rect l="l" t="t" r="r" b="b"/>
              <a:pathLst>
                <a:path w="223879" h="1501813">
                  <a:moveTo>
                    <a:pt x="0" y="0"/>
                  </a:moveTo>
                  <a:lnTo>
                    <a:pt x="223879" y="0"/>
                  </a:lnTo>
                  <a:lnTo>
                    <a:pt x="223879" y="1501813"/>
                  </a:lnTo>
                  <a:lnTo>
                    <a:pt x="0" y="1501813"/>
                  </a:lnTo>
                  <a:close/>
                </a:path>
              </a:pathLst>
            </a:custGeom>
            <a:gradFill rotWithShape="1">
              <a:gsLst>
                <a:gs pos="0">
                  <a:srgbClr val="3199CE">
                    <a:alpha val="0"/>
                  </a:srgbClr>
                </a:gs>
                <a:gs pos="50000">
                  <a:srgbClr val="3199CE">
                    <a:alpha val="71000"/>
                  </a:srgbClr>
                </a:gs>
                <a:gs pos="100000">
                  <a:srgbClr val="3199C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223879" cy="15399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22" name="Freeform 22"/>
          <p:cNvSpPr/>
          <p:nvPr/>
        </p:nvSpPr>
        <p:spPr>
          <a:xfrm flipH="1">
            <a:off x="13891532" y="-997422"/>
            <a:ext cx="7588781" cy="1994845"/>
          </a:xfrm>
          <a:custGeom>
            <a:avLst/>
            <a:gdLst/>
            <a:ahLst/>
            <a:cxnLst/>
            <a:rect l="l" t="t" r="r" b="b"/>
            <a:pathLst>
              <a:path w="7588781" h="1994845">
                <a:moveTo>
                  <a:pt x="7588780" y="0"/>
                </a:moveTo>
                <a:lnTo>
                  <a:pt x="0" y="0"/>
                </a:lnTo>
                <a:lnTo>
                  <a:pt x="0" y="1994844"/>
                </a:lnTo>
                <a:lnTo>
                  <a:pt x="7588780" y="1994844"/>
                </a:lnTo>
                <a:lnTo>
                  <a:pt x="7588780" y="0"/>
                </a:lnTo>
                <a:close/>
              </a:path>
            </a:pathLst>
          </a:custGeom>
          <a:blipFill>
            <a:blip r:embed="rId3">
              <a:alphaModFix amt="4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-3192312" y="-997422"/>
            <a:ext cx="7588781" cy="1994845"/>
          </a:xfrm>
          <a:custGeom>
            <a:avLst/>
            <a:gdLst/>
            <a:ahLst/>
            <a:cxnLst/>
            <a:rect l="l" t="t" r="r" b="b"/>
            <a:pathLst>
              <a:path w="7588781" h="1994845">
                <a:moveTo>
                  <a:pt x="0" y="0"/>
                </a:moveTo>
                <a:lnTo>
                  <a:pt x="7588780" y="0"/>
                </a:lnTo>
                <a:lnTo>
                  <a:pt x="7588780" y="1994844"/>
                </a:lnTo>
                <a:lnTo>
                  <a:pt x="0" y="19948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3667218" y="1363106"/>
            <a:ext cx="9840197" cy="298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-232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IDENTIFICATION &amp;</a:t>
            </a:r>
            <a:r>
              <a:rPr lang="en-US" sz="7500" b="1" spc="-232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 AUTHENTICATION FAILU</a:t>
            </a:r>
            <a:r>
              <a:rPr lang="en-US" sz="7500" b="1" spc="-232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RES</a:t>
            </a:r>
            <a:endParaRPr lang="en-US" sz="7500" b="1" spc="-232">
              <a:solidFill>
                <a:srgbClr val="FFFFFF"/>
              </a:solidFill>
              <a:latin typeface="Telegraf Bold" panose="00000800000000000000"/>
              <a:ea typeface="Telegraf Bold" panose="00000800000000000000"/>
              <a:cs typeface="Telegraf Bold" panose="00000800000000000000"/>
              <a:sym typeface="Telegraf Bold" panose="00000800000000000000"/>
            </a:endParaRPr>
          </a:p>
        </p:txBody>
      </p:sp>
      <p:grpSp>
        <p:nvGrpSpPr>
          <p:cNvPr id="25" name="Group 25"/>
          <p:cNvGrpSpPr/>
          <p:nvPr/>
        </p:nvGrpSpPr>
        <p:grpSpPr>
          <a:xfrm rot="0">
            <a:off x="1028700" y="5784671"/>
            <a:ext cx="17039199" cy="2437272"/>
            <a:chOff x="0" y="0"/>
            <a:chExt cx="4883280" cy="6985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883280" cy="698500"/>
            </a:xfrm>
            <a:custGeom>
              <a:avLst/>
              <a:gdLst/>
              <a:ahLst/>
              <a:cxnLst/>
              <a:rect l="l" t="t" r="r" b="b"/>
              <a:pathLst>
                <a:path w="4883280" h="698500">
                  <a:moveTo>
                    <a:pt x="4883280" y="349250"/>
                  </a:moveTo>
                  <a:lnTo>
                    <a:pt x="468008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4680080" y="0"/>
                  </a:lnTo>
                  <a:lnTo>
                    <a:pt x="4883280" y="349250"/>
                  </a:lnTo>
                  <a:close/>
                </a:path>
              </a:pathLst>
            </a:custGeom>
            <a:solidFill>
              <a:srgbClr val="0077C0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114300" y="-104775"/>
              <a:ext cx="4654680" cy="8032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420"/>
                </a:lnSpc>
              </a:pPr>
              <a:r>
                <a:rPr lang="en-US" sz="5300">
                  <a:solidFill>
                    <a:srgbClr val="FFFFFF"/>
                  </a:solidFill>
                  <a:latin typeface="Canva Sans" panose="020B0503030501040103"/>
                  <a:ea typeface="Canva Sans" panose="020B0503030501040103"/>
                  <a:cs typeface="Canva Sans" panose="020B0503030501040103"/>
                  <a:sym typeface="Canva Sans" panose="020B0503030501040103"/>
                </a:rPr>
                <a:t>Weak passwords, missing MFA, poor sessions.</a:t>
              </a:r>
              <a:endParaRPr lang="en-US" sz="53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endParaRPr>
            </a:p>
            <a:p>
              <a:pPr algn="ctr">
                <a:lnSpc>
                  <a:spcPts val="7420"/>
                </a:lnSpc>
              </a:pPr>
              <a:r>
                <a:rPr lang="en-US" sz="5300">
                  <a:solidFill>
                    <a:srgbClr val="FFFFFF"/>
                  </a:solidFill>
                  <a:latin typeface="Canva Sans" panose="020B0503030501040103"/>
                  <a:ea typeface="Canva Sans" panose="020B0503030501040103"/>
                  <a:cs typeface="Canva Sans" panose="020B0503030501040103"/>
                  <a:sym typeface="Canva Sans" panose="020B0503030501040103"/>
                </a:rPr>
                <a:t>Mitigation: MFA, strong passwords, lockout.</a:t>
              </a:r>
              <a:endParaRPr lang="en-US" sz="53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endParaRPr>
            </a:p>
            <a:p>
              <a:pPr algn="ctr">
                <a:lnSpc>
                  <a:spcPts val="2660"/>
                </a:lnSpc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112C">
                <a:alpha val="100000"/>
              </a:srgbClr>
            </a:gs>
            <a:gs pos="100000">
              <a:srgbClr val="173079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797341" y="1340740"/>
            <a:ext cx="5534900" cy="5534900"/>
          </a:xfrm>
          <a:custGeom>
            <a:avLst/>
            <a:gdLst/>
            <a:ahLst/>
            <a:cxnLst/>
            <a:rect l="l" t="t" r="r" b="b"/>
            <a:pathLst>
              <a:path w="5534900" h="5534900">
                <a:moveTo>
                  <a:pt x="0" y="0"/>
                </a:moveTo>
                <a:lnTo>
                  <a:pt x="5534900" y="0"/>
                </a:lnTo>
                <a:lnTo>
                  <a:pt x="5534900" y="5534899"/>
                </a:lnTo>
                <a:lnTo>
                  <a:pt x="0" y="55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044241" y="1340740"/>
            <a:ext cx="5534900" cy="5534900"/>
          </a:xfrm>
          <a:custGeom>
            <a:avLst/>
            <a:gdLst/>
            <a:ahLst/>
            <a:cxnLst/>
            <a:rect l="l" t="t" r="r" b="b"/>
            <a:pathLst>
              <a:path w="5534900" h="5534900">
                <a:moveTo>
                  <a:pt x="0" y="0"/>
                </a:moveTo>
                <a:lnTo>
                  <a:pt x="5534900" y="0"/>
                </a:lnTo>
                <a:lnTo>
                  <a:pt x="5534900" y="5534899"/>
                </a:lnTo>
                <a:lnTo>
                  <a:pt x="0" y="55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1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7187999">
            <a:off x="10602917" y="-14686148"/>
            <a:ext cx="2124063" cy="24199806"/>
            <a:chOff x="0" y="0"/>
            <a:chExt cx="559424" cy="637361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59424" cy="6373612"/>
            </a:xfrm>
            <a:custGeom>
              <a:avLst/>
              <a:gdLst/>
              <a:ahLst/>
              <a:cxnLst/>
              <a:rect l="l" t="t" r="r" b="b"/>
              <a:pathLst>
                <a:path w="559424" h="6373612">
                  <a:moveTo>
                    <a:pt x="0" y="0"/>
                  </a:moveTo>
                  <a:lnTo>
                    <a:pt x="559424" y="0"/>
                  </a:lnTo>
                  <a:lnTo>
                    <a:pt x="559424" y="6373612"/>
                  </a:lnTo>
                  <a:lnTo>
                    <a:pt x="0" y="6373612"/>
                  </a:lnTo>
                  <a:close/>
                </a:path>
              </a:pathLst>
            </a:custGeom>
            <a:gradFill rotWithShape="1">
              <a:gsLst>
                <a:gs pos="0">
                  <a:srgbClr val="1B8AC2">
                    <a:alpha val="100000"/>
                  </a:srgbClr>
                </a:gs>
                <a:gs pos="100000">
                  <a:srgbClr val="003875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559424" cy="64117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7" name="Group 7"/>
          <p:cNvGrpSpPr/>
          <p:nvPr/>
        </p:nvGrpSpPr>
        <p:grpSpPr>
          <a:xfrm rot="7187999">
            <a:off x="16818786" y="-5708432"/>
            <a:ext cx="2124063" cy="11016594"/>
            <a:chOff x="0" y="0"/>
            <a:chExt cx="559424" cy="29014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59424" cy="2901490"/>
            </a:xfrm>
            <a:custGeom>
              <a:avLst/>
              <a:gdLst/>
              <a:ahLst/>
              <a:cxnLst/>
              <a:rect l="l" t="t" r="r" b="b"/>
              <a:pathLst>
                <a:path w="559424" h="2901490">
                  <a:moveTo>
                    <a:pt x="0" y="0"/>
                  </a:moveTo>
                  <a:lnTo>
                    <a:pt x="559424" y="0"/>
                  </a:lnTo>
                  <a:lnTo>
                    <a:pt x="559424" y="2901490"/>
                  </a:lnTo>
                  <a:lnTo>
                    <a:pt x="0" y="2901490"/>
                  </a:lnTo>
                  <a:close/>
                </a:path>
              </a:pathLst>
            </a:custGeom>
            <a:gradFill rotWithShape="1">
              <a:gsLst>
                <a:gs pos="0">
                  <a:srgbClr val="003875">
                    <a:alpha val="100000"/>
                  </a:srgbClr>
                </a:gs>
                <a:gs pos="100000">
                  <a:srgbClr val="1B8AC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59424" cy="29395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 rot="7187999">
            <a:off x="14230466" y="-2608995"/>
            <a:ext cx="850040" cy="5702196"/>
            <a:chOff x="0" y="0"/>
            <a:chExt cx="223879" cy="150181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3879" cy="1501813"/>
            </a:xfrm>
            <a:custGeom>
              <a:avLst/>
              <a:gdLst/>
              <a:ahLst/>
              <a:cxnLst/>
              <a:rect l="l" t="t" r="r" b="b"/>
              <a:pathLst>
                <a:path w="223879" h="1501813">
                  <a:moveTo>
                    <a:pt x="0" y="0"/>
                  </a:moveTo>
                  <a:lnTo>
                    <a:pt x="223879" y="0"/>
                  </a:lnTo>
                  <a:lnTo>
                    <a:pt x="223879" y="1501813"/>
                  </a:lnTo>
                  <a:lnTo>
                    <a:pt x="0" y="1501813"/>
                  </a:lnTo>
                  <a:close/>
                </a:path>
              </a:pathLst>
            </a:custGeom>
            <a:gradFill rotWithShape="1">
              <a:gsLst>
                <a:gs pos="0">
                  <a:srgbClr val="3199CE">
                    <a:alpha val="0"/>
                  </a:srgbClr>
                </a:gs>
                <a:gs pos="50000">
                  <a:srgbClr val="3199CE">
                    <a:alpha val="71000"/>
                  </a:srgbClr>
                </a:gs>
                <a:gs pos="100000">
                  <a:srgbClr val="3199C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23879" cy="15399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3" name="Group 13"/>
          <p:cNvGrpSpPr/>
          <p:nvPr/>
        </p:nvGrpSpPr>
        <p:grpSpPr>
          <a:xfrm rot="-7188000">
            <a:off x="5561020" y="-14686148"/>
            <a:ext cx="2124063" cy="24199806"/>
            <a:chOff x="0" y="0"/>
            <a:chExt cx="559424" cy="637361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59424" cy="6373612"/>
            </a:xfrm>
            <a:custGeom>
              <a:avLst/>
              <a:gdLst/>
              <a:ahLst/>
              <a:cxnLst/>
              <a:rect l="l" t="t" r="r" b="b"/>
              <a:pathLst>
                <a:path w="559424" h="6373612">
                  <a:moveTo>
                    <a:pt x="0" y="0"/>
                  </a:moveTo>
                  <a:lnTo>
                    <a:pt x="559424" y="0"/>
                  </a:lnTo>
                  <a:lnTo>
                    <a:pt x="559424" y="6373612"/>
                  </a:lnTo>
                  <a:lnTo>
                    <a:pt x="0" y="6373612"/>
                  </a:lnTo>
                  <a:close/>
                </a:path>
              </a:pathLst>
            </a:custGeom>
            <a:gradFill rotWithShape="1">
              <a:gsLst>
                <a:gs pos="0">
                  <a:srgbClr val="1B8AC2">
                    <a:alpha val="100000"/>
                  </a:srgbClr>
                </a:gs>
                <a:gs pos="100000">
                  <a:srgbClr val="003875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559424" cy="64117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6" name="Group 16"/>
          <p:cNvGrpSpPr/>
          <p:nvPr/>
        </p:nvGrpSpPr>
        <p:grpSpPr>
          <a:xfrm rot="-7188000">
            <a:off x="-654848" y="-5708432"/>
            <a:ext cx="2124063" cy="11016594"/>
            <a:chOff x="0" y="0"/>
            <a:chExt cx="559424" cy="290149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59424" cy="2901490"/>
            </a:xfrm>
            <a:custGeom>
              <a:avLst/>
              <a:gdLst/>
              <a:ahLst/>
              <a:cxnLst/>
              <a:rect l="l" t="t" r="r" b="b"/>
              <a:pathLst>
                <a:path w="559424" h="2901490">
                  <a:moveTo>
                    <a:pt x="0" y="0"/>
                  </a:moveTo>
                  <a:lnTo>
                    <a:pt x="559424" y="0"/>
                  </a:lnTo>
                  <a:lnTo>
                    <a:pt x="559424" y="2901490"/>
                  </a:lnTo>
                  <a:lnTo>
                    <a:pt x="0" y="2901490"/>
                  </a:lnTo>
                  <a:close/>
                </a:path>
              </a:pathLst>
            </a:custGeom>
            <a:gradFill rotWithShape="1">
              <a:gsLst>
                <a:gs pos="0">
                  <a:srgbClr val="003875">
                    <a:alpha val="100000"/>
                  </a:srgbClr>
                </a:gs>
                <a:gs pos="100000">
                  <a:srgbClr val="1B8AC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559424" cy="29395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9" name="Group 19"/>
          <p:cNvGrpSpPr/>
          <p:nvPr/>
        </p:nvGrpSpPr>
        <p:grpSpPr>
          <a:xfrm rot="-7188000">
            <a:off x="3207494" y="-2608995"/>
            <a:ext cx="850040" cy="5702196"/>
            <a:chOff x="0" y="0"/>
            <a:chExt cx="223879" cy="150181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23879" cy="1501813"/>
            </a:xfrm>
            <a:custGeom>
              <a:avLst/>
              <a:gdLst/>
              <a:ahLst/>
              <a:cxnLst/>
              <a:rect l="l" t="t" r="r" b="b"/>
              <a:pathLst>
                <a:path w="223879" h="1501813">
                  <a:moveTo>
                    <a:pt x="0" y="0"/>
                  </a:moveTo>
                  <a:lnTo>
                    <a:pt x="223879" y="0"/>
                  </a:lnTo>
                  <a:lnTo>
                    <a:pt x="223879" y="1501813"/>
                  </a:lnTo>
                  <a:lnTo>
                    <a:pt x="0" y="1501813"/>
                  </a:lnTo>
                  <a:close/>
                </a:path>
              </a:pathLst>
            </a:custGeom>
            <a:gradFill rotWithShape="1">
              <a:gsLst>
                <a:gs pos="0">
                  <a:srgbClr val="3199CE">
                    <a:alpha val="0"/>
                  </a:srgbClr>
                </a:gs>
                <a:gs pos="50000">
                  <a:srgbClr val="3199CE">
                    <a:alpha val="71000"/>
                  </a:srgbClr>
                </a:gs>
                <a:gs pos="100000">
                  <a:srgbClr val="3199C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223879" cy="15399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22" name="Freeform 22"/>
          <p:cNvSpPr/>
          <p:nvPr/>
        </p:nvSpPr>
        <p:spPr>
          <a:xfrm rot="-10800000" flipH="1">
            <a:off x="-3192312" y="9258300"/>
            <a:ext cx="7588781" cy="1994845"/>
          </a:xfrm>
          <a:custGeom>
            <a:avLst/>
            <a:gdLst/>
            <a:ahLst/>
            <a:cxnLst/>
            <a:rect l="l" t="t" r="r" b="b"/>
            <a:pathLst>
              <a:path w="7588781" h="1994845">
                <a:moveTo>
                  <a:pt x="7588780" y="0"/>
                </a:moveTo>
                <a:lnTo>
                  <a:pt x="0" y="0"/>
                </a:lnTo>
                <a:lnTo>
                  <a:pt x="0" y="1994845"/>
                </a:lnTo>
                <a:lnTo>
                  <a:pt x="7588780" y="1994845"/>
                </a:lnTo>
                <a:lnTo>
                  <a:pt x="7588780" y="0"/>
                </a:lnTo>
                <a:close/>
              </a:path>
            </a:pathLst>
          </a:custGeom>
          <a:blipFill>
            <a:blip r:embed="rId3">
              <a:alphaModFix amt="4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 rot="-10800000">
            <a:off x="13891532" y="9258300"/>
            <a:ext cx="7588781" cy="1994845"/>
          </a:xfrm>
          <a:custGeom>
            <a:avLst/>
            <a:gdLst/>
            <a:ahLst/>
            <a:cxnLst/>
            <a:rect l="l" t="t" r="r" b="b"/>
            <a:pathLst>
              <a:path w="7588781" h="1994845">
                <a:moveTo>
                  <a:pt x="0" y="0"/>
                </a:moveTo>
                <a:lnTo>
                  <a:pt x="7588780" y="0"/>
                </a:lnTo>
                <a:lnTo>
                  <a:pt x="7588780" y="1994845"/>
                </a:lnTo>
                <a:lnTo>
                  <a:pt x="0" y="19948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24" name="Group 24"/>
          <p:cNvGrpSpPr/>
          <p:nvPr/>
        </p:nvGrpSpPr>
        <p:grpSpPr>
          <a:xfrm rot="0">
            <a:off x="1209628" y="7210932"/>
            <a:ext cx="2663420" cy="2288877"/>
            <a:chOff x="0" y="0"/>
            <a:chExt cx="812800" cy="6985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77C0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7" name="Group 27"/>
          <p:cNvGrpSpPr/>
          <p:nvPr/>
        </p:nvGrpSpPr>
        <p:grpSpPr>
          <a:xfrm rot="0">
            <a:off x="5714894" y="7210932"/>
            <a:ext cx="2663420" cy="2288877"/>
            <a:chOff x="0" y="0"/>
            <a:chExt cx="812800" cy="6985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77C0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30" name="Group 30"/>
          <p:cNvGrpSpPr/>
          <p:nvPr/>
        </p:nvGrpSpPr>
        <p:grpSpPr>
          <a:xfrm rot="0">
            <a:off x="10333238" y="7210932"/>
            <a:ext cx="2663420" cy="2288877"/>
            <a:chOff x="0" y="0"/>
            <a:chExt cx="812800" cy="6985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77C0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33" name="Group 33"/>
          <p:cNvGrpSpPr/>
          <p:nvPr/>
        </p:nvGrpSpPr>
        <p:grpSpPr>
          <a:xfrm rot="0">
            <a:off x="14465631" y="7210932"/>
            <a:ext cx="2663420" cy="2288877"/>
            <a:chOff x="0" y="0"/>
            <a:chExt cx="812800" cy="6985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77C0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3873048" y="794829"/>
            <a:ext cx="9840197" cy="2028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lang="en-US" sz="7500" b="1" spc="-232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SOFTWARE &amp; DATA INT</a:t>
            </a:r>
            <a:r>
              <a:rPr lang="en-US" sz="7500" b="1" spc="-232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EGRITY FAILURES</a:t>
            </a:r>
            <a:endParaRPr lang="en-US" sz="7500" b="1" spc="-232">
              <a:solidFill>
                <a:srgbClr val="FFFFFF"/>
              </a:solidFill>
              <a:latin typeface="Telegraf Bold" panose="00000800000000000000"/>
              <a:ea typeface="Telegraf Bold" panose="00000800000000000000"/>
              <a:cs typeface="Telegraf Bold" panose="00000800000000000000"/>
              <a:sym typeface="Telegraf Bold" panose="00000800000000000000"/>
            </a:endParaRPr>
          </a:p>
        </p:txBody>
      </p:sp>
      <p:grpSp>
        <p:nvGrpSpPr>
          <p:cNvPr id="37" name="Group 37"/>
          <p:cNvGrpSpPr/>
          <p:nvPr/>
        </p:nvGrpSpPr>
        <p:grpSpPr>
          <a:xfrm rot="0">
            <a:off x="1119164" y="3918123"/>
            <a:ext cx="16049672" cy="2600607"/>
            <a:chOff x="0" y="0"/>
            <a:chExt cx="4897903" cy="793631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4897903" cy="793631"/>
            </a:xfrm>
            <a:custGeom>
              <a:avLst/>
              <a:gdLst/>
              <a:ahLst/>
              <a:cxnLst/>
              <a:rect l="l" t="t" r="r" b="b"/>
              <a:pathLst>
                <a:path w="4897903" h="793631">
                  <a:moveTo>
                    <a:pt x="4897903" y="396816"/>
                  </a:moveTo>
                  <a:lnTo>
                    <a:pt x="4694703" y="793631"/>
                  </a:lnTo>
                  <a:lnTo>
                    <a:pt x="203200" y="793631"/>
                  </a:lnTo>
                  <a:lnTo>
                    <a:pt x="0" y="396816"/>
                  </a:lnTo>
                  <a:lnTo>
                    <a:pt x="203200" y="0"/>
                  </a:lnTo>
                  <a:lnTo>
                    <a:pt x="4694703" y="0"/>
                  </a:lnTo>
                  <a:lnTo>
                    <a:pt x="4897903" y="396816"/>
                  </a:lnTo>
                  <a:close/>
                </a:path>
              </a:pathLst>
            </a:custGeom>
            <a:solidFill>
              <a:srgbClr val="0077C0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114300" y="-38100"/>
              <a:ext cx="4669303" cy="8317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536550" y="4262961"/>
            <a:ext cx="14853345" cy="1623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0"/>
              </a:lnSpc>
              <a:spcBef>
                <a:spcPct val="0"/>
              </a:spcBef>
            </a:pPr>
            <a:r>
              <a:rPr lang="en-US" sz="47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Unverified updates or software supply-chain issues.</a:t>
            </a:r>
            <a:endParaRPr lang="en-US" sz="470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ctr">
              <a:lnSpc>
                <a:spcPts val="6580"/>
              </a:lnSpc>
              <a:spcBef>
                <a:spcPct val="0"/>
              </a:spcBef>
            </a:pPr>
            <a:r>
              <a:rPr lang="en-US" sz="47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Mitigation: code signing, integrity checks.</a:t>
            </a:r>
            <a:endParaRPr lang="en-US" sz="470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112C">
                <a:alpha val="100000"/>
              </a:srgbClr>
            </a:gs>
            <a:gs pos="100000">
              <a:srgbClr val="17307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359456" y="4117404"/>
            <a:ext cx="10485004" cy="4680722"/>
            <a:chOff x="0" y="0"/>
            <a:chExt cx="3199724" cy="14284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99724" cy="1428423"/>
            </a:xfrm>
            <a:custGeom>
              <a:avLst/>
              <a:gdLst/>
              <a:ahLst/>
              <a:cxnLst/>
              <a:rect l="l" t="t" r="r" b="b"/>
              <a:pathLst>
                <a:path w="3199724" h="1428423">
                  <a:moveTo>
                    <a:pt x="3199724" y="714211"/>
                  </a:moveTo>
                  <a:lnTo>
                    <a:pt x="2996524" y="1428423"/>
                  </a:lnTo>
                  <a:lnTo>
                    <a:pt x="203200" y="1428423"/>
                  </a:lnTo>
                  <a:lnTo>
                    <a:pt x="0" y="714211"/>
                  </a:lnTo>
                  <a:lnTo>
                    <a:pt x="203200" y="0"/>
                  </a:lnTo>
                  <a:lnTo>
                    <a:pt x="2996524" y="0"/>
                  </a:lnTo>
                  <a:lnTo>
                    <a:pt x="3199724" y="714211"/>
                  </a:lnTo>
                  <a:close/>
                </a:path>
              </a:pathLst>
            </a:custGeom>
            <a:solidFill>
              <a:srgbClr val="0077C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14300" y="-104775"/>
              <a:ext cx="2971124" cy="15331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260"/>
                </a:lnSpc>
              </a:pPr>
              <a:r>
                <a:rPr lang="en-US" sz="5900">
                  <a:solidFill>
                    <a:srgbClr val="FFFFFF"/>
                  </a:solidFill>
                  <a:latin typeface="Canva Sans" panose="020B0503030501040103"/>
                  <a:ea typeface="Canva Sans" panose="020B0503030501040103"/>
                  <a:cs typeface="Canva Sans" panose="020B0503030501040103"/>
                  <a:sym typeface="Canva Sans" panose="020B0503030501040103"/>
                </a:rPr>
                <a:t>Poor logging delays attack detection.</a:t>
              </a:r>
              <a:endParaRPr lang="en-US" sz="59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endParaRPr>
            </a:p>
            <a:p>
              <a:pPr algn="ctr">
                <a:lnSpc>
                  <a:spcPts val="8260"/>
                </a:lnSpc>
              </a:pPr>
              <a:r>
                <a:rPr lang="en-US" sz="5900">
                  <a:solidFill>
                    <a:srgbClr val="FFFFFF"/>
                  </a:solidFill>
                  <a:latin typeface="Canva Sans" panose="020B0503030501040103"/>
                  <a:ea typeface="Canva Sans" panose="020B0503030501040103"/>
                  <a:cs typeface="Canva Sans" panose="020B0503030501040103"/>
                  <a:sym typeface="Canva Sans" panose="020B0503030501040103"/>
                </a:rPr>
                <a:t>Mitigation: centralized monitoring and alerting.</a:t>
              </a:r>
              <a:endParaRPr lang="en-US" sz="59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endParaRPr>
            </a:p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227074" y="968960"/>
            <a:ext cx="13500501" cy="2028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7500" b="1" spc="-232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LOGG</a:t>
            </a:r>
            <a:r>
              <a:rPr lang="en-US" sz="7500" b="1" spc="-232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ING &amp; MONITORING F</a:t>
            </a:r>
            <a:r>
              <a:rPr lang="en-US" sz="7500" b="1" spc="-232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AILURES</a:t>
            </a:r>
            <a:endParaRPr lang="en-US" sz="7500" b="1" spc="-232">
              <a:solidFill>
                <a:srgbClr val="FFFFFF"/>
              </a:solidFill>
              <a:latin typeface="Telegraf Bold" panose="00000800000000000000"/>
              <a:ea typeface="Telegraf Bold" panose="00000800000000000000"/>
              <a:cs typeface="Telegraf Bold" panose="00000800000000000000"/>
              <a:sym typeface="Telegraf Bold" panose="00000800000000000000"/>
            </a:endParaRPr>
          </a:p>
        </p:txBody>
      </p:sp>
      <p:grpSp>
        <p:nvGrpSpPr>
          <p:cNvPr id="6" name="Group 6"/>
          <p:cNvGrpSpPr/>
          <p:nvPr/>
        </p:nvGrpSpPr>
        <p:grpSpPr>
          <a:xfrm rot="3581999">
            <a:off x="17367743" y="-4728115"/>
            <a:ext cx="1354700" cy="24199806"/>
            <a:chOff x="0" y="0"/>
            <a:chExt cx="356793" cy="637361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56793" cy="6373612"/>
            </a:xfrm>
            <a:custGeom>
              <a:avLst/>
              <a:gdLst/>
              <a:ahLst/>
              <a:cxnLst/>
              <a:rect l="l" t="t" r="r" b="b"/>
              <a:pathLst>
                <a:path w="356793" h="6373612">
                  <a:moveTo>
                    <a:pt x="0" y="0"/>
                  </a:moveTo>
                  <a:lnTo>
                    <a:pt x="356793" y="0"/>
                  </a:lnTo>
                  <a:lnTo>
                    <a:pt x="356793" y="6373612"/>
                  </a:lnTo>
                  <a:lnTo>
                    <a:pt x="0" y="6373612"/>
                  </a:lnTo>
                  <a:close/>
                </a:path>
              </a:pathLst>
            </a:custGeom>
            <a:gradFill rotWithShape="1">
              <a:gsLst>
                <a:gs pos="0">
                  <a:srgbClr val="003875">
                    <a:alpha val="100000"/>
                  </a:srgbClr>
                </a:gs>
                <a:gs pos="100000">
                  <a:srgbClr val="1B8AC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56793" cy="64117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9" name="Freeform 9"/>
          <p:cNvSpPr/>
          <p:nvPr/>
        </p:nvSpPr>
        <p:spPr>
          <a:xfrm>
            <a:off x="11177245" y="1110436"/>
            <a:ext cx="6225425" cy="7193243"/>
          </a:xfrm>
          <a:custGeom>
            <a:avLst/>
            <a:gdLst/>
            <a:ahLst/>
            <a:cxnLst/>
            <a:rect l="l" t="t" r="r" b="b"/>
            <a:pathLst>
              <a:path w="6225425" h="7193243">
                <a:moveTo>
                  <a:pt x="0" y="0"/>
                </a:moveTo>
                <a:lnTo>
                  <a:pt x="6225424" y="0"/>
                </a:lnTo>
                <a:lnTo>
                  <a:pt x="6225424" y="7193242"/>
                </a:lnTo>
                <a:lnTo>
                  <a:pt x="0" y="719324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112C">
                <a:alpha val="100000"/>
              </a:srgbClr>
            </a:gs>
            <a:gs pos="100000">
              <a:srgbClr val="17307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27074" y="968960"/>
            <a:ext cx="13500501" cy="2028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7500" b="1" spc="-232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SERVER-S</a:t>
            </a:r>
            <a:r>
              <a:rPr lang="en-US" sz="7500" b="1" spc="-232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IDE REQUEST FORGERY (SSRF)</a:t>
            </a:r>
            <a:endParaRPr lang="en-US" sz="7500" b="1" spc="-232">
              <a:solidFill>
                <a:srgbClr val="FFFFFF"/>
              </a:solidFill>
              <a:latin typeface="Telegraf Bold" panose="00000800000000000000"/>
              <a:ea typeface="Telegraf Bold" panose="00000800000000000000"/>
              <a:cs typeface="Telegraf Bold" panose="00000800000000000000"/>
              <a:sym typeface="Telegraf Bold" panose="00000800000000000000"/>
            </a:endParaRPr>
          </a:p>
        </p:txBody>
      </p:sp>
      <p:grpSp>
        <p:nvGrpSpPr>
          <p:cNvPr id="3" name="Group 3"/>
          <p:cNvGrpSpPr/>
          <p:nvPr/>
        </p:nvGrpSpPr>
        <p:grpSpPr>
          <a:xfrm rot="0">
            <a:off x="1209628" y="7210932"/>
            <a:ext cx="2663420" cy="2288877"/>
            <a:chOff x="0" y="0"/>
            <a:chExt cx="812800" cy="6985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77C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6" name="Group 6"/>
          <p:cNvGrpSpPr/>
          <p:nvPr/>
        </p:nvGrpSpPr>
        <p:grpSpPr>
          <a:xfrm rot="0">
            <a:off x="5754584" y="7210932"/>
            <a:ext cx="2663420" cy="2288877"/>
            <a:chOff x="0" y="0"/>
            <a:chExt cx="812800" cy="6985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77C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0">
            <a:off x="10611270" y="7210932"/>
            <a:ext cx="2663420" cy="2288877"/>
            <a:chOff x="0" y="0"/>
            <a:chExt cx="812800" cy="6985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77C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2" name="Group 12"/>
          <p:cNvGrpSpPr/>
          <p:nvPr/>
        </p:nvGrpSpPr>
        <p:grpSpPr>
          <a:xfrm rot="0">
            <a:off x="14727575" y="7210932"/>
            <a:ext cx="2663420" cy="2288877"/>
            <a:chOff x="0" y="0"/>
            <a:chExt cx="812800" cy="6985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77C0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5" name="Group 15"/>
          <p:cNvGrpSpPr/>
          <p:nvPr/>
        </p:nvGrpSpPr>
        <p:grpSpPr>
          <a:xfrm rot="7187999">
            <a:off x="11264158" y="-14131387"/>
            <a:ext cx="1051317" cy="24199806"/>
            <a:chOff x="0" y="0"/>
            <a:chExt cx="276890" cy="637361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6890" cy="6373612"/>
            </a:xfrm>
            <a:custGeom>
              <a:avLst/>
              <a:gdLst/>
              <a:ahLst/>
              <a:cxnLst/>
              <a:rect l="l" t="t" r="r" b="b"/>
              <a:pathLst>
                <a:path w="276890" h="6373612">
                  <a:moveTo>
                    <a:pt x="0" y="0"/>
                  </a:moveTo>
                  <a:lnTo>
                    <a:pt x="276890" y="0"/>
                  </a:lnTo>
                  <a:lnTo>
                    <a:pt x="276890" y="6373612"/>
                  </a:lnTo>
                  <a:lnTo>
                    <a:pt x="0" y="6373612"/>
                  </a:lnTo>
                  <a:close/>
                </a:path>
              </a:pathLst>
            </a:custGeom>
            <a:gradFill rotWithShape="1">
              <a:gsLst>
                <a:gs pos="0">
                  <a:srgbClr val="1B8AC2">
                    <a:alpha val="100000"/>
                  </a:srgbClr>
                </a:gs>
                <a:gs pos="100000">
                  <a:srgbClr val="003875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6890" cy="64117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8" name="Group 18"/>
          <p:cNvGrpSpPr/>
          <p:nvPr/>
        </p:nvGrpSpPr>
        <p:grpSpPr>
          <a:xfrm rot="7187999">
            <a:off x="10498403" y="-13120110"/>
            <a:ext cx="897396" cy="24199806"/>
            <a:chOff x="0" y="0"/>
            <a:chExt cx="236351" cy="637361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36351" cy="6373612"/>
            </a:xfrm>
            <a:custGeom>
              <a:avLst/>
              <a:gdLst/>
              <a:ahLst/>
              <a:cxnLst/>
              <a:rect l="l" t="t" r="r" b="b"/>
              <a:pathLst>
                <a:path w="236351" h="6373612">
                  <a:moveTo>
                    <a:pt x="0" y="0"/>
                  </a:moveTo>
                  <a:lnTo>
                    <a:pt x="236351" y="0"/>
                  </a:lnTo>
                  <a:lnTo>
                    <a:pt x="236351" y="6373612"/>
                  </a:lnTo>
                  <a:lnTo>
                    <a:pt x="0" y="6373612"/>
                  </a:lnTo>
                  <a:close/>
                </a:path>
              </a:pathLst>
            </a:custGeom>
            <a:gradFill rotWithShape="1">
              <a:gsLst>
                <a:gs pos="0">
                  <a:srgbClr val="1B8AC2">
                    <a:alpha val="100000"/>
                  </a:srgbClr>
                </a:gs>
                <a:gs pos="100000">
                  <a:srgbClr val="003875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36351" cy="64117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1" name="Group 21"/>
          <p:cNvGrpSpPr/>
          <p:nvPr/>
        </p:nvGrpSpPr>
        <p:grpSpPr>
          <a:xfrm rot="0">
            <a:off x="681890" y="3999062"/>
            <a:ext cx="16709105" cy="2288877"/>
            <a:chOff x="0" y="0"/>
            <a:chExt cx="5099143" cy="6985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099143" cy="698500"/>
            </a:xfrm>
            <a:custGeom>
              <a:avLst/>
              <a:gdLst/>
              <a:ahLst/>
              <a:cxnLst/>
              <a:rect l="l" t="t" r="r" b="b"/>
              <a:pathLst>
                <a:path w="5099143" h="698500">
                  <a:moveTo>
                    <a:pt x="5099143" y="349250"/>
                  </a:moveTo>
                  <a:lnTo>
                    <a:pt x="4895943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4895943" y="0"/>
                  </a:lnTo>
                  <a:lnTo>
                    <a:pt x="5099143" y="349250"/>
                  </a:lnTo>
                  <a:close/>
                </a:path>
              </a:pathLst>
            </a:custGeom>
            <a:solidFill>
              <a:srgbClr val="0077C0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114300" y="-38100"/>
              <a:ext cx="4870543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329854" y="4107407"/>
            <a:ext cx="15628293" cy="1898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00"/>
              </a:lnSpc>
              <a:spcBef>
                <a:spcPct val="0"/>
              </a:spcBef>
            </a:pPr>
            <a:r>
              <a:rPr lang="en-US" sz="55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Server abused to request internal resources.</a:t>
            </a:r>
            <a:endParaRPr lang="en-US" sz="550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ctr">
              <a:lnSpc>
                <a:spcPts val="7700"/>
              </a:lnSpc>
              <a:spcBef>
                <a:spcPct val="0"/>
              </a:spcBef>
            </a:pPr>
            <a:r>
              <a:rPr lang="en-US" sz="55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Mitigation: validate URLs, network restrictions.</a:t>
            </a:r>
            <a:endParaRPr lang="en-US" sz="550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112C">
                <a:alpha val="100000"/>
              </a:srgbClr>
            </a:gs>
            <a:gs pos="100000">
              <a:srgbClr val="17307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98734" y="1104900"/>
            <a:ext cx="16251580" cy="1299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30"/>
              </a:lnSpc>
            </a:pPr>
            <a:r>
              <a:rPr lang="en-US" sz="9030" b="1" spc="-279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CASE STU</a:t>
            </a:r>
            <a:r>
              <a:rPr lang="en-US" sz="9030" b="1" spc="-279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DY: EQUIFAX (2017)</a:t>
            </a:r>
            <a:endParaRPr lang="en-US" sz="9030" b="1" spc="-279">
              <a:solidFill>
                <a:srgbClr val="FFFFFF"/>
              </a:solidFill>
              <a:latin typeface="Telegraf Bold" panose="00000800000000000000"/>
              <a:ea typeface="Telegraf Bold" panose="00000800000000000000"/>
              <a:cs typeface="Telegraf Bold" panose="00000800000000000000"/>
              <a:sym typeface="Telegraf Bold" panose="0000080000000000000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8700" y="3910643"/>
            <a:ext cx="16060566" cy="359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15"/>
              </a:lnSpc>
              <a:spcBef>
                <a:spcPct val="0"/>
              </a:spcBef>
            </a:pPr>
            <a:r>
              <a:rPr lang="en-US" sz="687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Ap</a:t>
            </a:r>
            <a:r>
              <a:rPr lang="en-US" sz="687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ache Struts vulnerability exploited. </a:t>
            </a:r>
            <a:endParaRPr lang="en-US" sz="687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ctr">
              <a:lnSpc>
                <a:spcPts val="9615"/>
              </a:lnSpc>
              <a:spcBef>
                <a:spcPct val="0"/>
              </a:spcBef>
            </a:pPr>
            <a:r>
              <a:rPr lang="en-US" sz="687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147M people affected.</a:t>
            </a:r>
            <a:endParaRPr lang="en-US" sz="687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ctr">
              <a:lnSpc>
                <a:spcPts val="9615"/>
              </a:lnSpc>
              <a:spcBef>
                <a:spcPct val="0"/>
              </a:spcBef>
            </a:pPr>
            <a:r>
              <a:rPr lang="en-US" sz="687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 Lesson: timely patching.</a:t>
            </a:r>
            <a:endParaRPr lang="en-US" sz="687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112C">
                <a:alpha val="100000"/>
              </a:srgbClr>
            </a:gs>
            <a:gs pos="100000">
              <a:srgbClr val="17307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98734" y="1104900"/>
            <a:ext cx="16251580" cy="2446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30"/>
              </a:lnSpc>
            </a:pPr>
            <a:r>
              <a:rPr lang="en-US" sz="9030" b="1" spc="-279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CASE STU</a:t>
            </a:r>
            <a:r>
              <a:rPr lang="en-US" sz="9030" b="1" spc="-279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DY: CAPITAL ONE (2019)</a:t>
            </a:r>
            <a:endParaRPr lang="en-US" sz="9030" b="1" spc="-279">
              <a:solidFill>
                <a:srgbClr val="FFFFFF"/>
              </a:solidFill>
              <a:latin typeface="Telegraf Bold" panose="00000800000000000000"/>
              <a:ea typeface="Telegraf Bold" panose="00000800000000000000"/>
              <a:cs typeface="Telegraf Bold" panose="00000800000000000000"/>
              <a:sym typeface="Telegraf Bold" panose="0000080000000000000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70034" y="4335729"/>
            <a:ext cx="18117966" cy="359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15"/>
              </a:lnSpc>
              <a:spcBef>
                <a:spcPct val="0"/>
              </a:spcBef>
            </a:pPr>
            <a:r>
              <a:rPr lang="en-US" sz="687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Clo</a:t>
            </a:r>
            <a:r>
              <a:rPr lang="en-US" sz="687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ud misconfiguration and SSRF exposed ~106M records.</a:t>
            </a:r>
            <a:endParaRPr lang="en-US" sz="687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ctr">
              <a:lnSpc>
                <a:spcPts val="9615"/>
              </a:lnSpc>
              <a:spcBef>
                <a:spcPct val="0"/>
              </a:spcBef>
            </a:pPr>
            <a:r>
              <a:rPr lang="en-US" sz="687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 Lesson: secure cloud configuration.</a:t>
            </a:r>
            <a:endParaRPr lang="en-US" sz="687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112C">
                <a:alpha val="100000"/>
              </a:srgbClr>
            </a:gs>
            <a:gs pos="100000">
              <a:srgbClr val="17307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0172" y="1046843"/>
            <a:ext cx="6887419" cy="887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10"/>
              </a:lnSpc>
            </a:pPr>
            <a:r>
              <a:rPr lang="en-US" sz="6210" b="1" spc="-192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 IN</a:t>
            </a:r>
            <a:r>
              <a:rPr lang="en-US" sz="6210" b="1" spc="-192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DIVIDUALS</a:t>
            </a:r>
            <a:endParaRPr lang="en-US" sz="6210" b="1" spc="-192">
              <a:solidFill>
                <a:srgbClr val="FFFFFF"/>
              </a:solidFill>
              <a:latin typeface="Telegraf Bold" panose="00000800000000000000"/>
              <a:ea typeface="Telegraf Bold" panose="00000800000000000000"/>
              <a:cs typeface="Telegraf Bold" panose="00000800000000000000"/>
              <a:sym typeface="Telegraf Bold" panose="00000800000000000000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99453" y="1076325"/>
            <a:ext cx="6959847" cy="857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45"/>
              </a:lnSpc>
            </a:pPr>
            <a:r>
              <a:rPr lang="en-US" sz="5945" b="1" spc="-184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 ORG</a:t>
            </a:r>
            <a:r>
              <a:rPr lang="en-US" sz="5945" b="1" spc="-184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ANIZATIONS</a:t>
            </a:r>
            <a:endParaRPr lang="en-US" sz="5945" b="1" spc="-184">
              <a:solidFill>
                <a:srgbClr val="FFFFFF"/>
              </a:solidFill>
              <a:latin typeface="Telegraf Bold" panose="00000800000000000000"/>
              <a:ea typeface="Telegraf Bold" panose="00000800000000000000"/>
              <a:cs typeface="Telegraf Bold" panose="00000800000000000000"/>
              <a:sym typeface="Telegraf Bold" panose="00000800000000000000"/>
            </a:endParaRPr>
          </a:p>
        </p:txBody>
      </p:sp>
      <p:grpSp>
        <p:nvGrpSpPr>
          <p:cNvPr id="4" name="Group 4"/>
          <p:cNvGrpSpPr/>
          <p:nvPr/>
        </p:nvGrpSpPr>
        <p:grpSpPr>
          <a:xfrm rot="0">
            <a:off x="566781" y="2364951"/>
            <a:ext cx="5987148" cy="6199669"/>
            <a:chOff x="0" y="0"/>
            <a:chExt cx="1827107" cy="189196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827107" cy="1891962"/>
            </a:xfrm>
            <a:custGeom>
              <a:avLst/>
              <a:gdLst/>
              <a:ahLst/>
              <a:cxnLst/>
              <a:rect l="l" t="t" r="r" b="b"/>
              <a:pathLst>
                <a:path w="1827107" h="1891962">
                  <a:moveTo>
                    <a:pt x="1827107" y="945981"/>
                  </a:moveTo>
                  <a:lnTo>
                    <a:pt x="1623907" y="1891962"/>
                  </a:lnTo>
                  <a:lnTo>
                    <a:pt x="203200" y="1891962"/>
                  </a:lnTo>
                  <a:lnTo>
                    <a:pt x="0" y="945981"/>
                  </a:lnTo>
                  <a:lnTo>
                    <a:pt x="203200" y="0"/>
                  </a:lnTo>
                  <a:lnTo>
                    <a:pt x="1623907" y="0"/>
                  </a:lnTo>
                  <a:lnTo>
                    <a:pt x="1827107" y="945981"/>
                  </a:lnTo>
                  <a:close/>
                </a:path>
              </a:pathLst>
            </a:custGeom>
            <a:solidFill>
              <a:srgbClr val="0077C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114300" y="-85725"/>
              <a:ext cx="1598507" cy="1977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860"/>
                </a:lnSpc>
              </a:pPr>
              <a:r>
                <a:rPr lang="en-US" sz="4900">
                  <a:solidFill>
                    <a:srgbClr val="FFFFFF"/>
                  </a:solidFill>
                  <a:latin typeface="Canva Sans" panose="020B0503030501040103"/>
                  <a:ea typeface="Canva Sans" panose="020B0503030501040103"/>
                  <a:cs typeface="Canva Sans" panose="020B0503030501040103"/>
                  <a:sym typeface="Canva Sans" panose="020B0503030501040103"/>
                </a:rPr>
                <a:t>Identity theft</a:t>
              </a:r>
              <a:endParaRPr lang="en-US" sz="49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endParaRPr>
            </a:p>
            <a:p>
              <a:pPr algn="ctr">
                <a:lnSpc>
                  <a:spcPts val="6860"/>
                </a:lnSpc>
              </a:pPr>
              <a:r>
                <a:rPr lang="en-US" sz="4900">
                  <a:solidFill>
                    <a:srgbClr val="FFFFFF"/>
                  </a:solidFill>
                  <a:latin typeface="Canva Sans" panose="020B0503030501040103"/>
                  <a:ea typeface="Canva Sans" panose="020B0503030501040103"/>
                  <a:cs typeface="Canva Sans" panose="020B0503030501040103"/>
                  <a:sym typeface="Canva Sans" panose="020B0503030501040103"/>
                </a:rPr>
                <a:t>Privacy loss</a:t>
              </a:r>
              <a:endParaRPr lang="en-US" sz="49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endParaRPr>
            </a:p>
            <a:p>
              <a:pPr algn="ctr">
                <a:lnSpc>
                  <a:spcPts val="6860"/>
                </a:lnSpc>
              </a:pPr>
              <a:r>
                <a:rPr lang="en-US" sz="4900">
                  <a:solidFill>
                    <a:srgbClr val="FFFFFF"/>
                  </a:solidFill>
                  <a:latin typeface="Canva Sans" panose="020B0503030501040103"/>
                  <a:ea typeface="Canva Sans" panose="020B0503030501040103"/>
                  <a:cs typeface="Canva Sans" panose="020B0503030501040103"/>
                  <a:sym typeface="Canva Sans" panose="020B0503030501040103"/>
                </a:rPr>
                <a:t>Financial fraud</a:t>
              </a:r>
              <a:endParaRPr lang="en-US" sz="49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endParaRPr>
            </a:p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7" name="Group 7"/>
          <p:cNvGrpSpPr/>
          <p:nvPr/>
        </p:nvGrpSpPr>
        <p:grpSpPr>
          <a:xfrm rot="0">
            <a:off x="10731201" y="2364951"/>
            <a:ext cx="6042014" cy="6199669"/>
            <a:chOff x="0" y="0"/>
            <a:chExt cx="1843850" cy="189196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43850" cy="1891962"/>
            </a:xfrm>
            <a:custGeom>
              <a:avLst/>
              <a:gdLst/>
              <a:ahLst/>
              <a:cxnLst/>
              <a:rect l="l" t="t" r="r" b="b"/>
              <a:pathLst>
                <a:path w="1843850" h="1891962">
                  <a:moveTo>
                    <a:pt x="1843850" y="945981"/>
                  </a:moveTo>
                  <a:lnTo>
                    <a:pt x="1640650" y="1891962"/>
                  </a:lnTo>
                  <a:lnTo>
                    <a:pt x="203200" y="1891962"/>
                  </a:lnTo>
                  <a:lnTo>
                    <a:pt x="0" y="945981"/>
                  </a:lnTo>
                  <a:lnTo>
                    <a:pt x="203200" y="0"/>
                  </a:lnTo>
                  <a:lnTo>
                    <a:pt x="1640650" y="0"/>
                  </a:lnTo>
                  <a:lnTo>
                    <a:pt x="1843850" y="945981"/>
                  </a:lnTo>
                  <a:close/>
                </a:path>
              </a:pathLst>
            </a:custGeom>
            <a:solidFill>
              <a:srgbClr val="233E8B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114300" y="-76200"/>
              <a:ext cx="1615250" cy="19681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300"/>
                </a:lnSpc>
              </a:pPr>
              <a:r>
                <a:rPr lang="en-US" sz="4500">
                  <a:solidFill>
                    <a:srgbClr val="FFFFFF"/>
                  </a:solidFill>
                  <a:latin typeface="Canva Sans" panose="020B0503030501040103"/>
                  <a:ea typeface="Canva Sans" panose="020B0503030501040103"/>
                  <a:cs typeface="Canva Sans" panose="020B0503030501040103"/>
                  <a:sym typeface="Canva Sans" panose="020B0503030501040103"/>
                </a:rPr>
                <a:t>Reputation damage</a:t>
              </a:r>
              <a:endParaRPr lang="en-US" sz="45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endParaRPr>
            </a:p>
            <a:p>
              <a:pPr algn="ctr">
                <a:lnSpc>
                  <a:spcPts val="6300"/>
                </a:lnSpc>
              </a:pPr>
              <a:r>
                <a:rPr lang="en-US" sz="4500">
                  <a:solidFill>
                    <a:srgbClr val="FFFFFF"/>
                  </a:solidFill>
                  <a:latin typeface="Canva Sans" panose="020B0503030501040103"/>
                  <a:ea typeface="Canva Sans" panose="020B0503030501040103"/>
                  <a:cs typeface="Canva Sans" panose="020B0503030501040103"/>
                  <a:sym typeface="Canva Sans" panose="020B0503030501040103"/>
                </a:rPr>
                <a:t>Financial loss</a:t>
              </a:r>
              <a:endParaRPr lang="en-US" sz="45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endParaRPr>
            </a:p>
            <a:p>
              <a:pPr algn="ctr">
                <a:lnSpc>
                  <a:spcPts val="6300"/>
                </a:lnSpc>
              </a:pPr>
            </a:p>
            <a:p>
              <a:pPr algn="ctr">
                <a:lnSpc>
                  <a:spcPts val="6300"/>
                </a:lnSpc>
              </a:pPr>
              <a:r>
                <a:rPr lang="en-US" sz="4500">
                  <a:solidFill>
                    <a:srgbClr val="FFFFFF"/>
                  </a:solidFill>
                  <a:latin typeface="Canva Sans" panose="020B0503030501040103"/>
                  <a:ea typeface="Canva Sans" panose="020B0503030501040103"/>
                  <a:cs typeface="Canva Sans" panose="020B0503030501040103"/>
                  <a:sym typeface="Canva Sans" panose="020B0503030501040103"/>
                </a:rPr>
                <a:t>Legal penalties</a:t>
              </a:r>
              <a:endParaRPr lang="en-US" sz="45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endParaRPr>
            </a:p>
            <a:p>
              <a:pPr algn="ctr">
                <a:lnSpc>
                  <a:spcPts val="6300"/>
                </a:lnSpc>
              </a:p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112C">
                <a:alpha val="100000"/>
              </a:srgbClr>
            </a:gs>
            <a:gs pos="100000">
              <a:srgbClr val="17307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541254" y="3385157"/>
            <a:ext cx="13816877" cy="6199669"/>
            <a:chOff x="0" y="0"/>
            <a:chExt cx="4216517" cy="18919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16517" cy="1891962"/>
            </a:xfrm>
            <a:custGeom>
              <a:avLst/>
              <a:gdLst/>
              <a:ahLst/>
              <a:cxnLst/>
              <a:rect l="l" t="t" r="r" b="b"/>
              <a:pathLst>
                <a:path w="4216517" h="1891962">
                  <a:moveTo>
                    <a:pt x="4216517" y="945981"/>
                  </a:moveTo>
                  <a:lnTo>
                    <a:pt x="4013317" y="1891962"/>
                  </a:lnTo>
                  <a:lnTo>
                    <a:pt x="203200" y="1891962"/>
                  </a:lnTo>
                  <a:lnTo>
                    <a:pt x="0" y="945981"/>
                  </a:lnTo>
                  <a:lnTo>
                    <a:pt x="203200" y="0"/>
                  </a:lnTo>
                  <a:lnTo>
                    <a:pt x="4013317" y="0"/>
                  </a:lnTo>
                  <a:lnTo>
                    <a:pt x="4216517" y="945981"/>
                  </a:lnTo>
                  <a:close/>
                </a:path>
              </a:pathLst>
            </a:custGeom>
            <a:solidFill>
              <a:srgbClr val="0077C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14300" y="-85725"/>
              <a:ext cx="3987917" cy="19776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160"/>
                </a:lnSpc>
              </a:pPr>
              <a:r>
                <a:rPr lang="en-US" sz="4400">
                  <a:solidFill>
                    <a:srgbClr val="FFFFFF"/>
                  </a:solidFill>
                  <a:latin typeface="Canva Sans" panose="020B0503030501040103"/>
                  <a:ea typeface="Canva Sans" panose="020B0503030501040103"/>
                  <a:cs typeface="Canva Sans" panose="020B0503030501040103"/>
                  <a:sym typeface="Canva Sans" panose="020B0503030501040103"/>
                </a:rPr>
                <a:t>Tools: Burp Suite, OWASP ZAP, Nessus, Nmap, Wireshark.</a:t>
              </a:r>
              <a:endParaRPr lang="en-US" sz="44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endParaRPr>
            </a:p>
            <a:p>
              <a:pPr algn="ctr">
                <a:lnSpc>
                  <a:spcPts val="6160"/>
                </a:lnSpc>
              </a:pPr>
            </a:p>
            <a:p>
              <a:pPr algn="ctr">
                <a:lnSpc>
                  <a:spcPts val="6160"/>
                </a:lnSpc>
              </a:pPr>
              <a:r>
                <a:rPr lang="en-US" sz="4400">
                  <a:solidFill>
                    <a:srgbClr val="FFFFFF"/>
                  </a:solidFill>
                  <a:latin typeface="Canva Sans" panose="020B0503030501040103"/>
                  <a:ea typeface="Canva Sans" panose="020B0503030501040103"/>
                  <a:cs typeface="Canva Sans" panose="020B0503030501040103"/>
                  <a:sym typeface="Canva Sans" panose="020B0503030501040103"/>
                </a:rPr>
                <a:t>D</a:t>
              </a:r>
              <a:r>
                <a:rPr lang="en-US" sz="4400">
                  <a:solidFill>
                    <a:srgbClr val="FFFFFF"/>
                  </a:solidFill>
                  <a:latin typeface="Canva Sans" panose="020B0503030501040103"/>
                  <a:ea typeface="Canva Sans" panose="020B0503030501040103"/>
                  <a:cs typeface="Canva Sans" panose="020B0503030501040103"/>
                  <a:sym typeface="Canva Sans" panose="020B0503030501040103"/>
                </a:rPr>
                <a:t>etection: scans, code review.</a:t>
              </a:r>
              <a:endParaRPr lang="en-US" sz="44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endParaRPr>
            </a:p>
            <a:p>
              <a:pPr algn="ctr">
                <a:lnSpc>
                  <a:spcPts val="6160"/>
                </a:lnSpc>
              </a:pPr>
            </a:p>
            <a:p>
              <a:pPr algn="ctr">
                <a:lnSpc>
                  <a:spcPts val="6160"/>
                </a:lnSpc>
              </a:pPr>
              <a:r>
                <a:rPr lang="en-US" sz="4400">
                  <a:solidFill>
                    <a:srgbClr val="FFFFFF"/>
                  </a:solidFill>
                  <a:latin typeface="Canva Sans" panose="020B0503030501040103"/>
                  <a:ea typeface="Canva Sans" panose="020B0503030501040103"/>
                  <a:cs typeface="Canva Sans" panose="020B0503030501040103"/>
                  <a:sym typeface="Canva Sans" panose="020B0503030501040103"/>
                </a:rPr>
                <a:t>Rec</a:t>
              </a:r>
              <a:r>
                <a:rPr lang="en-US" sz="4400">
                  <a:solidFill>
                    <a:srgbClr val="FFFFFF"/>
                  </a:solidFill>
                  <a:latin typeface="Canva Sans" panose="020B0503030501040103"/>
                  <a:ea typeface="Canva Sans" panose="020B0503030501040103"/>
                  <a:cs typeface="Canva Sans" panose="020B0503030501040103"/>
                  <a:sym typeface="Canva Sans" panose="020B0503030501040103"/>
                </a:rPr>
                <a:t>ommendations: MFA, updates, monitoring.</a:t>
              </a:r>
              <a:endParaRPr lang="en-US" sz="44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endParaRPr>
            </a:p>
            <a:p>
              <a:pPr algn="ctr">
                <a:lnSpc>
                  <a:spcPts val="5320"/>
                </a:lnSpc>
              </a:p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60292" y="509779"/>
            <a:ext cx="16251580" cy="2446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30"/>
              </a:lnSpc>
            </a:pPr>
            <a:r>
              <a:rPr lang="en-US" sz="9030" b="1" spc="-279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DETECTION,</a:t>
            </a:r>
            <a:r>
              <a:rPr lang="en-US" sz="9030" b="1" spc="-279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 MITIGATION &amp; TOOLS</a:t>
            </a:r>
            <a:endParaRPr lang="en-US" sz="9030" b="1" spc="-279">
              <a:solidFill>
                <a:srgbClr val="FFFFFF"/>
              </a:solidFill>
              <a:latin typeface="Telegraf Bold" panose="00000800000000000000"/>
              <a:ea typeface="Telegraf Bold" panose="00000800000000000000"/>
              <a:cs typeface="Telegraf Bold" panose="00000800000000000000"/>
              <a:sym typeface="Telegraf Bold" panose="0000080000000000000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112C">
                <a:alpha val="100000"/>
              </a:srgbClr>
            </a:gs>
            <a:gs pos="100000">
              <a:srgbClr val="17307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806692"/>
            <a:ext cx="6453576" cy="4707021"/>
          </a:xfrm>
          <a:custGeom>
            <a:avLst/>
            <a:gdLst/>
            <a:ahLst/>
            <a:cxnLst/>
            <a:rect l="l" t="t" r="r" b="b"/>
            <a:pathLst>
              <a:path w="6453576" h="4707021">
                <a:moveTo>
                  <a:pt x="0" y="0"/>
                </a:moveTo>
                <a:lnTo>
                  <a:pt x="6453576" y="0"/>
                </a:lnTo>
                <a:lnTo>
                  <a:pt x="6453576" y="4707021"/>
                </a:lnTo>
                <a:lnTo>
                  <a:pt x="0" y="4707021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55768" t="-26490" r="-56646" b="-3732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741446" y="311730"/>
            <a:ext cx="5324904" cy="5358820"/>
          </a:xfrm>
          <a:custGeom>
            <a:avLst/>
            <a:gdLst/>
            <a:ahLst/>
            <a:cxnLst/>
            <a:rect l="l" t="t" r="r" b="b"/>
            <a:pathLst>
              <a:path w="5324904" h="5358820">
                <a:moveTo>
                  <a:pt x="0" y="0"/>
                </a:moveTo>
                <a:lnTo>
                  <a:pt x="5324904" y="0"/>
                </a:lnTo>
                <a:lnTo>
                  <a:pt x="5324904" y="5358819"/>
                </a:lnTo>
                <a:lnTo>
                  <a:pt x="0" y="53588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9737" t="-21153" r="-77701" b="-22739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587197" y="3971147"/>
            <a:ext cx="5700803" cy="6315853"/>
          </a:xfrm>
          <a:custGeom>
            <a:avLst/>
            <a:gdLst/>
            <a:ahLst/>
            <a:cxnLst/>
            <a:rect l="l" t="t" r="r" b="b"/>
            <a:pathLst>
              <a:path w="5700803" h="6315853">
                <a:moveTo>
                  <a:pt x="0" y="0"/>
                </a:moveTo>
                <a:lnTo>
                  <a:pt x="5700803" y="0"/>
                </a:lnTo>
                <a:lnTo>
                  <a:pt x="5700803" y="6315853"/>
                </a:lnTo>
                <a:lnTo>
                  <a:pt x="0" y="63158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473" r="-17743" b="-7627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0" y="254580"/>
            <a:ext cx="5611749" cy="57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65"/>
              </a:lnSpc>
              <a:spcBef>
                <a:spcPct val="0"/>
              </a:spcBef>
            </a:pPr>
            <a:r>
              <a:rPr lang="en-US" sz="3475" b="1">
                <a:solidFill>
                  <a:srgbClr val="FFFFFF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Practical lab Environmen</a:t>
            </a:r>
            <a:r>
              <a:rPr lang="en-US" sz="3475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t</a:t>
            </a:r>
            <a:endParaRPr lang="en-US" sz="3475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26713" y="1226101"/>
            <a:ext cx="3307983" cy="3469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Kali </a:t>
            </a:r>
            <a:endParaRPr lang="en-US" sz="330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Linux</a:t>
            </a:r>
            <a:endParaRPr lang="en-US" sz="330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?Apache 2.4.66</a:t>
            </a:r>
            <a:endParaRPr lang="en-US" sz="330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?PHP 8.4.16?</a:t>
            </a:r>
            <a:endParaRPr lang="en-US" sz="330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MariaDB 11.8.6?</a:t>
            </a:r>
            <a:endParaRPr lang="en-US" sz="330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DVWA</a:t>
            </a:r>
            <a:endParaRPr lang="en-US" sz="330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112C">
                <a:alpha val="100000"/>
              </a:srgbClr>
            </a:gs>
            <a:gs pos="100000">
              <a:srgbClr val="17307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155150" y="222756"/>
            <a:ext cx="7316707" cy="3166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5"/>
              </a:lnSpc>
              <a:spcBef>
                <a:spcPct val="0"/>
              </a:spcBef>
            </a:pPr>
            <a:r>
              <a:rPr lang="en-US" sz="3595" b="1">
                <a:solidFill>
                  <a:srgbClr val="FFFFFF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Findings:</a:t>
            </a:r>
            <a:endParaRPr lang="en-US" sz="3595" b="1">
              <a:solidFill>
                <a:srgbClr val="FFFFFF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  <a:p>
            <a:pPr marL="776605" lvl="1" indent="-388620" algn="ctr">
              <a:lnSpc>
                <a:spcPts val="5035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3595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Successful lab setup</a:t>
            </a:r>
            <a:endParaRPr lang="en-US" sz="3595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776605" lvl="1" indent="-388620" algn="ctr">
              <a:lnSpc>
                <a:spcPts val="5035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3595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Safe learning environment</a:t>
            </a:r>
            <a:endParaRPr lang="en-US" sz="3595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776605" lvl="1" indent="-388620" algn="ctr">
              <a:lnSpc>
                <a:spcPts val="5035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3595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OWASP concepts understood</a:t>
            </a:r>
            <a:endParaRPr lang="en-US" sz="3595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ctr">
              <a:lnSpc>
                <a:spcPts val="5035"/>
              </a:lnSpc>
              <a:spcBef>
                <a:spcPct val="0"/>
              </a:spcBef>
            </a:pPr>
          </a:p>
        </p:txBody>
      </p:sp>
      <p:sp>
        <p:nvSpPr>
          <p:cNvPr id="3" name="TextBox 3"/>
          <p:cNvSpPr txBox="1"/>
          <p:nvPr/>
        </p:nvSpPr>
        <p:spPr>
          <a:xfrm>
            <a:off x="-381863" y="3538921"/>
            <a:ext cx="8392162" cy="4705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sz="4500" b="1">
                <a:solidFill>
                  <a:srgbClr val="FFFFFF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Recommendations:</a:t>
            </a:r>
            <a:endParaRPr lang="en-US" sz="4500" b="1">
              <a:solidFill>
                <a:srgbClr val="FFFFFF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  <a:p>
            <a:pPr marL="971550" lvl="1" indent="-485775" algn="ctr">
              <a:lnSpc>
                <a:spcPts val="630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45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Validate inputs</a:t>
            </a:r>
            <a:endParaRPr lang="en-US" sz="450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971550" lvl="1" indent="-485775" algn="ctr">
              <a:lnSpc>
                <a:spcPts val="630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45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Parameterized queries</a:t>
            </a:r>
            <a:endParaRPr lang="en-US" sz="450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971550" lvl="1" indent="-485775" algn="ctr">
              <a:lnSpc>
                <a:spcPts val="630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45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Patch systems</a:t>
            </a:r>
            <a:endParaRPr lang="en-US" sz="450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971550" lvl="1" indent="-485775" algn="ctr">
              <a:lnSpc>
                <a:spcPts val="6300"/>
              </a:lnSpc>
              <a:spcBef>
                <a:spcPct val="0"/>
              </a:spcBef>
              <a:buFont typeface="Arial" panose="020B0604020202020204"/>
              <a:buChar char="•"/>
            </a:pPr>
            <a:r>
              <a:rPr lang="en-US" sz="45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Regular security testing</a:t>
            </a:r>
            <a:endParaRPr lang="en-US" sz="450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ctr">
              <a:lnSpc>
                <a:spcPts val="6300"/>
              </a:lnSpc>
              <a:spcBef>
                <a:spcPct val="0"/>
              </a:spcBef>
            </a:pPr>
          </a:p>
        </p:txBody>
      </p:sp>
      <p:sp>
        <p:nvSpPr>
          <p:cNvPr id="4" name="TextBox 4"/>
          <p:cNvSpPr txBox="1"/>
          <p:nvPr/>
        </p:nvSpPr>
        <p:spPr>
          <a:xfrm>
            <a:off x="10107528" y="346899"/>
            <a:ext cx="6593167" cy="1230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50"/>
              </a:lnSpc>
              <a:spcBef>
                <a:spcPct val="0"/>
              </a:spcBef>
            </a:pPr>
            <a:r>
              <a:rPr lang="en-US" sz="7250" b="1">
                <a:solidFill>
                  <a:srgbClr val="FFFFFF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Conclusion</a:t>
            </a:r>
            <a:endParaRPr lang="en-US" sz="7250" b="1">
              <a:solidFill>
                <a:srgbClr val="FFFFFF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  <p:grpSp>
        <p:nvGrpSpPr>
          <p:cNvPr id="5" name="Group 5"/>
          <p:cNvGrpSpPr/>
          <p:nvPr/>
        </p:nvGrpSpPr>
        <p:grpSpPr>
          <a:xfrm rot="0">
            <a:off x="9144000" y="1839181"/>
            <a:ext cx="8885879" cy="9080717"/>
            <a:chOff x="0" y="0"/>
            <a:chExt cx="2711717" cy="277117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11717" cy="2771176"/>
            </a:xfrm>
            <a:custGeom>
              <a:avLst/>
              <a:gdLst/>
              <a:ahLst/>
              <a:cxnLst/>
              <a:rect l="l" t="t" r="r" b="b"/>
              <a:pathLst>
                <a:path w="2711717" h="2771176">
                  <a:moveTo>
                    <a:pt x="2711717" y="1385588"/>
                  </a:moveTo>
                  <a:lnTo>
                    <a:pt x="2508517" y="2771176"/>
                  </a:lnTo>
                  <a:lnTo>
                    <a:pt x="203200" y="2771176"/>
                  </a:lnTo>
                  <a:lnTo>
                    <a:pt x="0" y="1385588"/>
                  </a:lnTo>
                  <a:lnTo>
                    <a:pt x="203200" y="0"/>
                  </a:lnTo>
                  <a:lnTo>
                    <a:pt x="2508517" y="0"/>
                  </a:lnTo>
                  <a:lnTo>
                    <a:pt x="2711717" y="1385588"/>
                  </a:lnTo>
                  <a:close/>
                </a:path>
              </a:pathLst>
            </a:custGeom>
            <a:solidFill>
              <a:srgbClr val="233E8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14300" y="-85725"/>
              <a:ext cx="2483117" cy="2856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6160"/>
                </a:lnSpc>
              </a:pPr>
            </a:p>
            <a:p>
              <a:pPr algn="ctr">
                <a:lnSpc>
                  <a:spcPts val="8120"/>
                </a:lnSpc>
              </a:pPr>
              <a:r>
                <a:rPr lang="en-US" sz="5800">
                  <a:solidFill>
                    <a:srgbClr val="FFFFFF"/>
                  </a:solidFill>
                  <a:latin typeface="Canva Sans" panose="020B0503030501040103"/>
                  <a:ea typeface="Canva Sans" panose="020B0503030501040103"/>
                  <a:cs typeface="Canva Sans" panose="020B0503030501040103"/>
                  <a:sym typeface="Canva Sans" panose="020B0503030501040103"/>
                </a:rPr>
                <a:t>OWASP Top 10 helps prioritize web security. </a:t>
              </a:r>
              <a:endParaRPr lang="en-US" sz="58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endParaRPr>
            </a:p>
            <a:p>
              <a:pPr algn="ctr">
                <a:lnSpc>
                  <a:spcPts val="8120"/>
                </a:lnSpc>
              </a:pPr>
            </a:p>
            <a:p>
              <a:pPr algn="ctr">
                <a:lnSpc>
                  <a:spcPts val="8120"/>
                </a:lnSpc>
              </a:pPr>
              <a:r>
                <a:rPr lang="en-US" sz="5800">
                  <a:solidFill>
                    <a:srgbClr val="FFFFFF"/>
                  </a:solidFill>
                  <a:latin typeface="Canva Sans" panose="020B0503030501040103"/>
                  <a:ea typeface="Canva Sans" panose="020B0503030501040103"/>
                  <a:cs typeface="Canva Sans" panose="020B0503030501040103"/>
                  <a:sym typeface="Canva Sans" panose="020B0503030501040103"/>
                </a:rPr>
                <a:t>It also Secure coding, testing and monitoring which reduce risk to Hackers</a:t>
              </a:r>
              <a:endParaRPr lang="en-US" sz="58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endParaRPr>
            </a:p>
            <a:p>
              <a:pPr algn="ctr">
                <a:lnSpc>
                  <a:spcPts val="7280"/>
                </a:lnSpc>
              </a:p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112C">
                <a:alpha val="100000"/>
              </a:srgbClr>
            </a:gs>
            <a:gs pos="100000">
              <a:srgbClr val="17307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1695625"/>
            <a:ext cx="17898666" cy="6249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445"/>
              </a:lnSpc>
              <a:spcBef>
                <a:spcPct val="0"/>
              </a:spcBef>
            </a:pPr>
            <a:r>
              <a:rPr lang="en-US" sz="11745" b="1">
                <a:solidFill>
                  <a:srgbClr val="FFFFFF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References</a:t>
            </a:r>
            <a:endParaRPr lang="en-US" sz="11745" b="1">
              <a:solidFill>
                <a:srgbClr val="FFFFFF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  <a:p>
            <a:pPr algn="ctr">
              <a:lnSpc>
                <a:spcPts val="10705"/>
              </a:lnSpc>
              <a:spcBef>
                <a:spcPct val="0"/>
              </a:spcBef>
            </a:pPr>
            <a:r>
              <a:rPr lang="en-US" sz="7645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OWASP (2021); NIST SP 800-53; OWASP Cheat Sheets; MITRE ATT&amp;CK.</a:t>
            </a:r>
            <a:endParaRPr lang="en-US" sz="7645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ctr">
              <a:lnSpc>
                <a:spcPts val="1182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112C">
                <a:alpha val="100000"/>
              </a:srgbClr>
            </a:gs>
            <a:gs pos="100000">
              <a:srgbClr val="17307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3273894" y="-782156"/>
            <a:ext cx="5950949" cy="1564312"/>
          </a:xfrm>
          <a:custGeom>
            <a:avLst/>
            <a:gdLst/>
            <a:ahLst/>
            <a:cxnLst/>
            <a:rect l="l" t="t" r="r" b="b"/>
            <a:pathLst>
              <a:path w="5950949" h="1564312">
                <a:moveTo>
                  <a:pt x="5950950" y="1564312"/>
                </a:moveTo>
                <a:lnTo>
                  <a:pt x="0" y="1564312"/>
                </a:lnTo>
                <a:lnTo>
                  <a:pt x="0" y="0"/>
                </a:lnTo>
                <a:lnTo>
                  <a:pt x="5950950" y="0"/>
                </a:lnTo>
                <a:lnTo>
                  <a:pt x="5950950" y="1564312"/>
                </a:lnTo>
                <a:close/>
              </a:path>
            </a:pathLst>
          </a:custGeom>
          <a:blipFill>
            <a:blip r:embed="rId1">
              <a:alphaModFix amt="4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256902" y="9510243"/>
            <a:ext cx="5973934" cy="1570354"/>
          </a:xfrm>
          <a:custGeom>
            <a:avLst/>
            <a:gdLst/>
            <a:ahLst/>
            <a:cxnLst/>
            <a:rect l="l" t="t" r="r" b="b"/>
            <a:pathLst>
              <a:path w="5973934" h="1570354">
                <a:moveTo>
                  <a:pt x="0" y="0"/>
                </a:moveTo>
                <a:lnTo>
                  <a:pt x="5973934" y="0"/>
                </a:lnTo>
                <a:lnTo>
                  <a:pt x="5973934" y="1570354"/>
                </a:lnTo>
                <a:lnTo>
                  <a:pt x="0" y="157035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alphaModFix amt="4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3597326">
            <a:off x="-1390225" y="-7810124"/>
            <a:ext cx="2780449" cy="17374172"/>
            <a:chOff x="0" y="0"/>
            <a:chExt cx="732299" cy="457591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32299" cy="4575913"/>
            </a:xfrm>
            <a:custGeom>
              <a:avLst/>
              <a:gdLst/>
              <a:ahLst/>
              <a:cxnLst/>
              <a:rect l="l" t="t" r="r" b="b"/>
              <a:pathLst>
                <a:path w="732299" h="4575913">
                  <a:moveTo>
                    <a:pt x="0" y="0"/>
                  </a:moveTo>
                  <a:lnTo>
                    <a:pt x="732299" y="0"/>
                  </a:lnTo>
                  <a:lnTo>
                    <a:pt x="732299" y="4575913"/>
                  </a:lnTo>
                  <a:lnTo>
                    <a:pt x="0" y="4575913"/>
                  </a:lnTo>
                  <a:close/>
                </a:path>
              </a:pathLst>
            </a:custGeom>
            <a:gradFill rotWithShape="1">
              <a:gsLst>
                <a:gs pos="0">
                  <a:srgbClr val="1B8AC2">
                    <a:alpha val="100000"/>
                  </a:srgbClr>
                </a:gs>
                <a:gs pos="100000">
                  <a:srgbClr val="003875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732299" cy="46140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7" name="Group 7"/>
          <p:cNvGrpSpPr/>
          <p:nvPr/>
        </p:nvGrpSpPr>
        <p:grpSpPr>
          <a:xfrm rot="3597326">
            <a:off x="3036282" y="-3277221"/>
            <a:ext cx="780579" cy="7465407"/>
            <a:chOff x="0" y="0"/>
            <a:chExt cx="205585" cy="196619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5585" cy="1966198"/>
            </a:xfrm>
            <a:custGeom>
              <a:avLst/>
              <a:gdLst/>
              <a:ahLst/>
              <a:cxnLst/>
              <a:rect l="l" t="t" r="r" b="b"/>
              <a:pathLst>
                <a:path w="205585" h="1966198">
                  <a:moveTo>
                    <a:pt x="0" y="0"/>
                  </a:moveTo>
                  <a:lnTo>
                    <a:pt x="205585" y="0"/>
                  </a:lnTo>
                  <a:lnTo>
                    <a:pt x="205585" y="1966198"/>
                  </a:lnTo>
                  <a:lnTo>
                    <a:pt x="0" y="1966198"/>
                  </a:lnTo>
                  <a:close/>
                </a:path>
              </a:pathLst>
            </a:custGeom>
            <a:gradFill rotWithShape="1">
              <a:gsLst>
                <a:gs pos="0">
                  <a:srgbClr val="3199CE">
                    <a:alpha val="100000"/>
                  </a:srgbClr>
                </a:gs>
                <a:gs pos="50000">
                  <a:srgbClr val="3199CE">
                    <a:alpha val="71000"/>
                  </a:srgbClr>
                </a:gs>
                <a:gs pos="100000">
                  <a:srgbClr val="3199CE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05585" cy="20042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0" name="Freeform 10"/>
          <p:cNvSpPr/>
          <p:nvPr/>
        </p:nvSpPr>
        <p:spPr>
          <a:xfrm>
            <a:off x="5383631" y="4208366"/>
            <a:ext cx="5534900" cy="5534900"/>
          </a:xfrm>
          <a:custGeom>
            <a:avLst/>
            <a:gdLst/>
            <a:ahLst/>
            <a:cxnLst/>
            <a:rect l="l" t="t" r="r" b="b"/>
            <a:pathLst>
              <a:path w="5534900" h="5534900">
                <a:moveTo>
                  <a:pt x="0" y="0"/>
                </a:moveTo>
                <a:lnTo>
                  <a:pt x="5534900" y="0"/>
                </a:lnTo>
                <a:lnTo>
                  <a:pt x="5534900" y="5534900"/>
                </a:lnTo>
                <a:lnTo>
                  <a:pt x="0" y="55349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 rot="-3582119">
            <a:off x="3208945" y="-984054"/>
            <a:ext cx="3498610" cy="17374172"/>
            <a:chOff x="0" y="0"/>
            <a:chExt cx="921445" cy="457591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21445" cy="4575913"/>
            </a:xfrm>
            <a:custGeom>
              <a:avLst/>
              <a:gdLst/>
              <a:ahLst/>
              <a:cxnLst/>
              <a:rect l="l" t="t" r="r" b="b"/>
              <a:pathLst>
                <a:path w="921445" h="4575913">
                  <a:moveTo>
                    <a:pt x="0" y="0"/>
                  </a:moveTo>
                  <a:lnTo>
                    <a:pt x="921445" y="0"/>
                  </a:lnTo>
                  <a:lnTo>
                    <a:pt x="921445" y="4575913"/>
                  </a:lnTo>
                  <a:lnTo>
                    <a:pt x="0" y="4575913"/>
                  </a:lnTo>
                  <a:close/>
                </a:path>
              </a:pathLst>
            </a:custGeom>
            <a:gradFill rotWithShape="1">
              <a:gsLst>
                <a:gs pos="0">
                  <a:srgbClr val="1B8AC2">
                    <a:alpha val="100000"/>
                  </a:srgbClr>
                </a:gs>
                <a:gs pos="100000">
                  <a:srgbClr val="003875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921445" cy="46140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4" name="Group 14"/>
          <p:cNvGrpSpPr/>
          <p:nvPr/>
        </p:nvGrpSpPr>
        <p:grpSpPr>
          <a:xfrm rot="-3582119">
            <a:off x="2211863" y="-6160378"/>
            <a:ext cx="2124063" cy="24199806"/>
            <a:chOff x="0" y="0"/>
            <a:chExt cx="559424" cy="637361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59424" cy="6373612"/>
            </a:xfrm>
            <a:custGeom>
              <a:avLst/>
              <a:gdLst/>
              <a:ahLst/>
              <a:cxnLst/>
              <a:rect l="l" t="t" r="r" b="b"/>
              <a:pathLst>
                <a:path w="559424" h="6373612">
                  <a:moveTo>
                    <a:pt x="0" y="0"/>
                  </a:moveTo>
                  <a:lnTo>
                    <a:pt x="559424" y="0"/>
                  </a:lnTo>
                  <a:lnTo>
                    <a:pt x="559424" y="6373612"/>
                  </a:lnTo>
                  <a:lnTo>
                    <a:pt x="0" y="6373612"/>
                  </a:lnTo>
                  <a:close/>
                </a:path>
              </a:pathLst>
            </a:custGeom>
            <a:gradFill rotWithShape="1">
              <a:gsLst>
                <a:gs pos="0">
                  <a:srgbClr val="003875">
                    <a:alpha val="100000"/>
                  </a:srgbClr>
                </a:gs>
                <a:gs pos="100000">
                  <a:srgbClr val="1B8AC2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559424" cy="64117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7" name="Group 17"/>
          <p:cNvGrpSpPr/>
          <p:nvPr/>
        </p:nvGrpSpPr>
        <p:grpSpPr>
          <a:xfrm rot="-3582119">
            <a:off x="10555281" y="5549443"/>
            <a:ext cx="1028816" cy="7921600"/>
            <a:chOff x="0" y="0"/>
            <a:chExt cx="270964" cy="208634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70964" cy="2086347"/>
            </a:xfrm>
            <a:custGeom>
              <a:avLst/>
              <a:gdLst/>
              <a:ahLst/>
              <a:cxnLst/>
              <a:rect l="l" t="t" r="r" b="b"/>
              <a:pathLst>
                <a:path w="270964" h="2086347">
                  <a:moveTo>
                    <a:pt x="0" y="0"/>
                  </a:moveTo>
                  <a:lnTo>
                    <a:pt x="270964" y="0"/>
                  </a:lnTo>
                  <a:lnTo>
                    <a:pt x="270964" y="2086347"/>
                  </a:lnTo>
                  <a:lnTo>
                    <a:pt x="0" y="2086347"/>
                  </a:lnTo>
                  <a:close/>
                </a:path>
              </a:pathLst>
            </a:custGeom>
            <a:gradFill rotWithShape="1">
              <a:gsLst>
                <a:gs pos="0">
                  <a:srgbClr val="3199CE">
                    <a:alpha val="0"/>
                  </a:srgbClr>
                </a:gs>
                <a:gs pos="50000">
                  <a:srgbClr val="3199CE">
                    <a:alpha val="71000"/>
                  </a:srgbClr>
                </a:gs>
                <a:gs pos="100000">
                  <a:srgbClr val="3199CE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70964" cy="21244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0" name="Group 20"/>
          <p:cNvGrpSpPr/>
          <p:nvPr/>
        </p:nvGrpSpPr>
        <p:grpSpPr>
          <a:xfrm rot="-3582119">
            <a:off x="-62893" y="2295467"/>
            <a:ext cx="1008444" cy="9442484"/>
            <a:chOff x="0" y="0"/>
            <a:chExt cx="265598" cy="248690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65598" cy="2486909"/>
            </a:xfrm>
            <a:custGeom>
              <a:avLst/>
              <a:gdLst/>
              <a:ahLst/>
              <a:cxnLst/>
              <a:rect l="l" t="t" r="r" b="b"/>
              <a:pathLst>
                <a:path w="265598" h="2486909">
                  <a:moveTo>
                    <a:pt x="0" y="0"/>
                  </a:moveTo>
                  <a:lnTo>
                    <a:pt x="265598" y="0"/>
                  </a:lnTo>
                  <a:lnTo>
                    <a:pt x="265598" y="2486909"/>
                  </a:lnTo>
                  <a:lnTo>
                    <a:pt x="0" y="2486909"/>
                  </a:lnTo>
                  <a:close/>
                </a:path>
              </a:pathLst>
            </a:custGeom>
            <a:gradFill rotWithShape="1">
              <a:gsLst>
                <a:gs pos="0">
                  <a:srgbClr val="3199CE">
                    <a:alpha val="100000"/>
                  </a:srgbClr>
                </a:gs>
                <a:gs pos="50000">
                  <a:srgbClr val="3199CE">
                    <a:alpha val="71000"/>
                  </a:srgbClr>
                </a:gs>
                <a:gs pos="100000">
                  <a:srgbClr val="3199CE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265598" cy="25250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23" name="Freeform 23"/>
          <p:cNvSpPr/>
          <p:nvPr/>
        </p:nvSpPr>
        <p:spPr>
          <a:xfrm>
            <a:off x="889661" y="1546879"/>
            <a:ext cx="6225425" cy="7193243"/>
          </a:xfrm>
          <a:custGeom>
            <a:avLst/>
            <a:gdLst/>
            <a:ahLst/>
            <a:cxnLst/>
            <a:rect l="l" t="t" r="r" b="b"/>
            <a:pathLst>
              <a:path w="6225425" h="7193243">
                <a:moveTo>
                  <a:pt x="0" y="0"/>
                </a:moveTo>
                <a:lnTo>
                  <a:pt x="6225425" y="0"/>
                </a:lnTo>
                <a:lnTo>
                  <a:pt x="6225425" y="7193242"/>
                </a:lnTo>
                <a:lnTo>
                  <a:pt x="0" y="71932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24" name="Group 24"/>
          <p:cNvGrpSpPr/>
          <p:nvPr/>
        </p:nvGrpSpPr>
        <p:grpSpPr>
          <a:xfrm rot="0">
            <a:off x="1151604" y="1826242"/>
            <a:ext cx="5701538" cy="6634517"/>
            <a:chOff x="0" y="0"/>
            <a:chExt cx="6985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98500" cy="812800"/>
            </a:xfrm>
            <a:custGeom>
              <a:avLst/>
              <a:gdLst/>
              <a:ahLst/>
              <a:cxnLst/>
              <a:rect l="l" t="t" r="r" b="b"/>
              <a:pathLst>
                <a:path w="698500" h="8128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blipFill>
              <a:blip r:embed="rId7"/>
              <a:stretch>
                <a:fillRect l="-39635" r="-39635"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 rot="-5400000">
            <a:off x="643339" y="8620295"/>
            <a:ext cx="1226279" cy="1053834"/>
            <a:chOff x="0" y="0"/>
            <a:chExt cx="812800" cy="6985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77C0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9" name="Group 29"/>
          <p:cNvGrpSpPr/>
          <p:nvPr/>
        </p:nvGrpSpPr>
        <p:grpSpPr>
          <a:xfrm rot="-5400000">
            <a:off x="7262803" y="1321008"/>
            <a:ext cx="1385127" cy="1190343"/>
            <a:chOff x="0" y="0"/>
            <a:chExt cx="812800" cy="6985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77C0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32" name="Group 32"/>
          <p:cNvGrpSpPr/>
          <p:nvPr/>
        </p:nvGrpSpPr>
        <p:grpSpPr>
          <a:xfrm rot="-2700000">
            <a:off x="555240" y="9318607"/>
            <a:ext cx="550010" cy="550010"/>
            <a:chOff x="0" y="0"/>
            <a:chExt cx="364557" cy="364557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64557" cy="364557"/>
            </a:xfrm>
            <a:custGeom>
              <a:avLst/>
              <a:gdLst/>
              <a:ahLst/>
              <a:cxnLst/>
              <a:rect l="l" t="t" r="r" b="b"/>
              <a:pathLst>
                <a:path w="364557" h="364557">
                  <a:moveTo>
                    <a:pt x="0" y="0"/>
                  </a:moveTo>
                  <a:lnTo>
                    <a:pt x="364557" y="0"/>
                  </a:lnTo>
                  <a:lnTo>
                    <a:pt x="364557" y="364557"/>
                  </a:lnTo>
                  <a:lnTo>
                    <a:pt x="0" y="364557"/>
                  </a:ln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364557" cy="4026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35" name="Group 35"/>
          <p:cNvGrpSpPr/>
          <p:nvPr/>
        </p:nvGrpSpPr>
        <p:grpSpPr>
          <a:xfrm rot="-2700000">
            <a:off x="7243752" y="2200723"/>
            <a:ext cx="621257" cy="621257"/>
            <a:chOff x="0" y="0"/>
            <a:chExt cx="364557" cy="364557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64557" cy="364557"/>
            </a:xfrm>
            <a:custGeom>
              <a:avLst/>
              <a:gdLst/>
              <a:ahLst/>
              <a:cxnLst/>
              <a:rect l="l" t="t" r="r" b="b"/>
              <a:pathLst>
                <a:path w="364557" h="364557">
                  <a:moveTo>
                    <a:pt x="0" y="0"/>
                  </a:moveTo>
                  <a:lnTo>
                    <a:pt x="364557" y="0"/>
                  </a:lnTo>
                  <a:lnTo>
                    <a:pt x="364557" y="364557"/>
                  </a:lnTo>
                  <a:lnTo>
                    <a:pt x="0" y="364557"/>
                  </a:ln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364557" cy="4026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38" name="Freeform 38"/>
          <p:cNvSpPr/>
          <p:nvPr/>
        </p:nvSpPr>
        <p:spPr>
          <a:xfrm>
            <a:off x="1256479" y="8816477"/>
            <a:ext cx="1147444" cy="139780"/>
          </a:xfrm>
          <a:custGeom>
            <a:avLst/>
            <a:gdLst/>
            <a:ahLst/>
            <a:cxnLst/>
            <a:rect l="l" t="t" r="r" b="b"/>
            <a:pathLst>
              <a:path w="1147444" h="139780">
                <a:moveTo>
                  <a:pt x="0" y="0"/>
                </a:moveTo>
                <a:lnTo>
                  <a:pt x="1147444" y="0"/>
                </a:lnTo>
                <a:lnTo>
                  <a:pt x="1147444" y="139780"/>
                </a:lnTo>
                <a:lnTo>
                  <a:pt x="0" y="1397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7955366" y="1542604"/>
            <a:ext cx="1296079" cy="157886"/>
          </a:xfrm>
          <a:custGeom>
            <a:avLst/>
            <a:gdLst/>
            <a:ahLst/>
            <a:cxnLst/>
            <a:rect l="l" t="t" r="r" b="b"/>
            <a:pathLst>
              <a:path w="1296079" h="157886">
                <a:moveTo>
                  <a:pt x="0" y="0"/>
                </a:moveTo>
                <a:lnTo>
                  <a:pt x="1296080" y="0"/>
                </a:lnTo>
                <a:lnTo>
                  <a:pt x="1296080" y="157886"/>
                </a:lnTo>
                <a:lnTo>
                  <a:pt x="0" y="1578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40" name="TextBox 40"/>
          <p:cNvSpPr txBox="1"/>
          <p:nvPr/>
        </p:nvSpPr>
        <p:spPr>
          <a:xfrm>
            <a:off x="7696200" y="3033395"/>
            <a:ext cx="10356850" cy="43434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6935"/>
              </a:lnSpc>
            </a:pPr>
            <a:r>
              <a:rPr lang="en-US" sz="19030" b="1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THA</a:t>
            </a:r>
            <a:r>
              <a:rPr lang="en-GB" altLang="en-US" sz="19030" b="1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N</a:t>
            </a:r>
            <a:r>
              <a:rPr lang="en-US" sz="19030" b="1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K YOU</a:t>
            </a:r>
            <a:r>
              <a:rPr lang="en-GB" altLang="en-US" sz="19030" b="1">
                <a:solidFill>
                  <a:srgbClr val="FFFFFF"/>
                </a:solidFill>
                <a:latin typeface="Telegraf Bold" panose="00000800000000000000"/>
                <a:ea typeface="Telegraf Bold" panose="00000800000000000000"/>
                <a:cs typeface="Telegraf Bold" panose="00000800000000000000"/>
                <a:sym typeface="Telegraf Bold" panose="00000800000000000000"/>
              </a:rPr>
              <a:t>   </a:t>
            </a:r>
            <a:endParaRPr lang="en-GB" altLang="en-US" sz="19030" b="1">
              <a:solidFill>
                <a:srgbClr val="FFFFFF"/>
              </a:solidFill>
              <a:latin typeface="Telegraf Bold" panose="00000800000000000000"/>
              <a:ea typeface="Telegraf Bold" panose="00000800000000000000"/>
              <a:cs typeface="Telegraf Bold" panose="00000800000000000000"/>
              <a:sym typeface="Telegraf Bold" panose="00000800000000000000"/>
            </a:endParaRPr>
          </a:p>
        </p:txBody>
      </p:sp>
      <p:sp>
        <p:nvSpPr>
          <p:cNvPr id="43" name="Freeform 43"/>
          <p:cNvSpPr/>
          <p:nvPr/>
        </p:nvSpPr>
        <p:spPr>
          <a:xfrm>
            <a:off x="16689954" y="1039872"/>
            <a:ext cx="553914" cy="775198"/>
          </a:xfrm>
          <a:custGeom>
            <a:avLst/>
            <a:gdLst/>
            <a:ahLst/>
            <a:cxnLst/>
            <a:rect l="l" t="t" r="r" b="b"/>
            <a:pathLst>
              <a:path w="553914" h="775198">
                <a:moveTo>
                  <a:pt x="0" y="0"/>
                </a:moveTo>
                <a:lnTo>
                  <a:pt x="553915" y="0"/>
                </a:lnTo>
                <a:lnTo>
                  <a:pt x="553915" y="775198"/>
                </a:lnTo>
                <a:lnTo>
                  <a:pt x="0" y="77519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2964</Words>
  <Application>WPS Presentation</Application>
  <PresentationFormat>On-screen Show (4:3)</PresentationFormat>
  <Paragraphs>182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7" baseType="lpstr">
      <vt:lpstr>Arial</vt:lpstr>
      <vt:lpstr>SimSun</vt:lpstr>
      <vt:lpstr>Wingdings</vt:lpstr>
      <vt:lpstr>Telegraf Bold</vt:lpstr>
      <vt:lpstr>Segoe Print</vt:lpstr>
      <vt:lpstr>Open Sauce Bold</vt:lpstr>
      <vt:lpstr>Canva Sans Bold Italics</vt:lpstr>
      <vt:lpstr>Canva Sans Bold</vt:lpstr>
      <vt:lpstr>Arial</vt:lpstr>
      <vt:lpstr>Telegraf</vt:lpstr>
      <vt:lpstr>Canva Sans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Navy And Teal Modern Tech Cyber Security Presentation</dc:title>
  <dc:creator/>
  <cp:lastModifiedBy>Meshack Adefala</cp:lastModifiedBy>
  <cp:revision>4</cp:revision>
  <dcterms:created xsi:type="dcterms:W3CDTF">2006-08-16T00:00:00Z</dcterms:created>
  <dcterms:modified xsi:type="dcterms:W3CDTF">2026-07-22T06:32:03Z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FA45BACAB75446FE9FC1D0DBA670371D_12</vt:lpwstr>
  </property>
  <property fmtid="{D5CDD505-2E9C-101B-9397-08002B2CF9AE}" pid="3" name="KSOProductBuildVer">
    <vt:lpwstr>2057-12.2.0.23206</vt:lpwstr>
  </property>
</Properties>
</file>